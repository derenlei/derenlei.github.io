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3.xml" ContentType="application/vnd.openxmlformats-officedocument.presentationml.slide+xml"/>
  <Default Extension="gif" ContentType="image/gif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firstSlideNum="0" showSpecialPlsOnTitleSld="0" strictFirstAndLastChars="0" saveSubsetFonts="1" autoCompressPictures="0">
  <p:sldMasterIdLst>
    <p:sldMasterId r:id="rId1"/>
  </p:sldMasterIdLst>
  <p:notesMasterIdLst>
    <p:notesMasterId r:id="rId27"/>
  </p:notesMasterIdLst>
  <p:handoutMasterIdLst>
    <p:handoutMasterId r:id="rId28"/>
  </p:handoutMasterIdLst>
  <p:sldIdLst>
    <p:sldId id="351" r:id="rId2"/>
    <p:sldId id="405" r:id="rId3"/>
    <p:sldId id="406" r:id="rId4"/>
    <p:sldId id="418" r:id="rId5"/>
    <p:sldId id="407" r:id="rId6"/>
    <p:sldId id="421" r:id="rId7"/>
    <p:sldId id="408" r:id="rId8"/>
    <p:sldId id="409" r:id="rId9"/>
    <p:sldId id="410" r:id="rId10"/>
    <p:sldId id="366" r:id="rId11"/>
    <p:sldId id="369" r:id="rId12"/>
    <p:sldId id="413" r:id="rId13"/>
    <p:sldId id="419" r:id="rId14"/>
    <p:sldId id="411" r:id="rId15"/>
    <p:sldId id="412" r:id="rId16"/>
    <p:sldId id="414" r:id="rId17"/>
    <p:sldId id="415" r:id="rId18"/>
    <p:sldId id="416" r:id="rId19"/>
    <p:sldId id="420" r:id="rId20"/>
    <p:sldId id="417" r:id="rId21"/>
    <p:sldId id="374" r:id="rId22"/>
    <p:sldId id="370" r:id="rId23"/>
    <p:sldId id="375" r:id="rId24"/>
    <p:sldId id="376" r:id="rId25"/>
    <p:sldId id="377" r:id="rId26"/>
  </p:sldIdLst>
  <p:sldSz cx="9601200" cy="73152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handouts2" frameSlides="1"/>
  <p:clrMru>
    <a:srgbClr val="FFFF00"/>
    <a:srgbClr val="FF00FF"/>
    <a:srgbClr val="800080"/>
    <a:srgbClr val="0033CC"/>
    <a:srgbClr val="0000CC"/>
    <a:srgbClr val="FFFFCC"/>
    <a:srgbClr val="FF0000"/>
    <a:srgbClr val="00FF00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3684" autoAdjust="0"/>
    <p:restoredTop sz="94660"/>
  </p:normalViewPr>
  <p:slideViewPr>
    <p:cSldViewPr>
      <p:cViewPr>
        <p:scale>
          <a:sx n="121" d="100"/>
          <a:sy n="121" d="100"/>
        </p:scale>
        <p:origin x="-88" y="8"/>
      </p:cViewPr>
      <p:guideLst>
        <p:guide orient="horz" pos="4463"/>
        <p:guide pos="5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0963" y="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190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0963" y="885190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fld id="{705B41BE-ABFA-8046-98DE-23BC7DE36E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08559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0963" y="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687388"/>
            <a:ext cx="4606925" cy="3509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425950"/>
            <a:ext cx="5011738" cy="419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190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0963" y="885190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fld id="{F3FA6034-B642-5740-AF69-C0D98D779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066622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231900" y="1430338"/>
            <a:ext cx="8161338" cy="1219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225550" y="4144963"/>
            <a:ext cx="6719888" cy="1870075"/>
          </a:xfrm>
        </p:spPr>
        <p:txBody>
          <a:bodyPr/>
          <a:lstStyle>
            <a:lvl1pPr marL="0" indent="0">
              <a:buFont typeface="Monotype Sort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1225550" y="6664325"/>
            <a:ext cx="2000250" cy="488950"/>
          </a:xfrm>
        </p:spPr>
        <p:txBody>
          <a:bodyPr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xfrm>
            <a:off x="3760788" y="6664325"/>
            <a:ext cx="3040062" cy="4889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361238" y="6664325"/>
            <a:ext cx="2000250" cy="4889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50000"/>
              </a:spcBef>
              <a:defRPr sz="1500">
                <a:solidFill>
                  <a:srgbClr val="000000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F8205EF-F3E1-1B4A-BC82-2D1802257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7508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9B703-8231-7E44-ACF1-005EE0F37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206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825" y="4700588"/>
            <a:ext cx="8161338" cy="14525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5" y="3100388"/>
            <a:ext cx="8161338" cy="1600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19139-3EFF-5E4E-A9D6-FC3495205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2775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338" y="914400"/>
            <a:ext cx="4540250" cy="599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2988" y="914400"/>
            <a:ext cx="4540250" cy="599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7C3B2-44DE-B548-B28F-5FA7F40F2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1921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3688"/>
            <a:ext cx="864235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1636713"/>
            <a:ext cx="4243388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425" y="2319338"/>
            <a:ext cx="4243388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1636713"/>
            <a:ext cx="4244975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2319338"/>
            <a:ext cx="4244975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CD162-2B5D-954B-B5A2-36F0F02519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1460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C5CF0-C1CA-8D4E-866F-05067FC46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3197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0FB29-8651-4A4C-991A-D4B11181FA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2307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0513"/>
            <a:ext cx="3159125" cy="12398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438" y="290513"/>
            <a:ext cx="5367337" cy="6243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425" y="1530350"/>
            <a:ext cx="3159125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C155D-EDBA-224F-A5E6-4B477E394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2885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88" y="5121275"/>
            <a:ext cx="5761037" cy="603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188" y="654050"/>
            <a:ext cx="5761037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188" y="5724525"/>
            <a:ext cx="5761037" cy="8588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D2C6E-3464-174C-B3DD-6580D6960D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7244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C9370-3AE5-984D-A38D-BC910DAA7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175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0"/>
            <a:ext cx="2309813" cy="690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778625" cy="690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17AE2-5384-DD45-A212-0F9E8EBB1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9529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92329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0338" y="914400"/>
            <a:ext cx="9232900" cy="599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989763"/>
            <a:ext cx="76200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50000"/>
              </a:spcBef>
              <a:defRPr sz="15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7C255BA-9101-6A4C-9ECC-24A9CE198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79825" y="7010400"/>
            <a:ext cx="304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ctr" defTabSz="966788">
              <a:spcBef>
                <a:spcPct val="50000"/>
              </a:spcBef>
              <a:defRPr sz="15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31"/>
          <p:cNvSpPr>
            <a:spLocks noChangeArrowheads="1"/>
          </p:cNvSpPr>
          <p:nvPr/>
        </p:nvSpPr>
        <p:spPr bwMode="auto">
          <a:xfrm>
            <a:off x="6559550" y="7010400"/>
            <a:ext cx="304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pPr algn="r" defTabSz="966788">
              <a:spcBef>
                <a:spcPct val="50000"/>
              </a:spcBef>
            </a:pPr>
            <a:endParaRPr lang="en-US" sz="150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hf sldNum="0" hdr="0" ftr="0"/>
  <p:txStyles>
    <p:titleStyle>
      <a:lvl1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ＭＳ Ｐゴシック" charset="0"/>
        </a:defRPr>
      </a:lvl1pPr>
      <a:lvl2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2pPr>
      <a:lvl3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3pPr>
      <a:lvl4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4pPr>
      <a:lvl5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5pPr>
      <a:lvl6pPr marL="4572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6pPr>
      <a:lvl7pPr marL="9144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7pPr>
      <a:lvl8pPr marL="13716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8pPr>
      <a:lvl9pPr marL="18288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9pPr>
    </p:titleStyle>
    <p:bodyStyle>
      <a:lvl1pPr marL="231775" indent="-231775" algn="l" defTabSz="966788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charset="0"/>
        <a:buChar char="n"/>
        <a:defRPr kumimoji="1" sz="2800">
          <a:solidFill>
            <a:srgbClr val="000066"/>
          </a:solidFill>
          <a:latin typeface="+mn-lt"/>
          <a:ea typeface="+mn-ea"/>
          <a:cs typeface="ＭＳ Ｐゴシック" charset="0"/>
        </a:defRPr>
      </a:lvl1pPr>
      <a:lvl2pPr marL="627063" indent="-2809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£"/>
        <a:defRPr kumimoji="1" sz="2800">
          <a:solidFill>
            <a:schemeClr val="tx2"/>
          </a:solidFill>
          <a:latin typeface="+mn-lt"/>
          <a:ea typeface="+mn-ea"/>
        </a:defRPr>
      </a:lvl2pPr>
      <a:lvl3pPr marL="993775" indent="-252413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"/>
        <a:defRPr kumimoji="1" sz="2400">
          <a:solidFill>
            <a:srgbClr val="0000CC"/>
          </a:solidFill>
          <a:latin typeface="+mn-lt"/>
          <a:ea typeface="+mn-ea"/>
        </a:defRPr>
      </a:lvl3pPr>
      <a:lvl4pPr marL="1370013" indent="-26193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"/>
        <a:defRPr kumimoji="1" sz="2400">
          <a:solidFill>
            <a:srgbClr val="0000CC"/>
          </a:solidFill>
          <a:latin typeface="+mn-lt"/>
          <a:ea typeface="+mn-ea"/>
        </a:defRPr>
      </a:lvl4pPr>
      <a:lvl5pPr marL="17780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5pPr>
      <a:lvl6pPr marL="22352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6pPr>
      <a:lvl7pPr marL="26924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7pPr>
      <a:lvl8pPr marL="31496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8pPr>
      <a:lvl9pPr marL="36068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273BA38-89CD-A84B-9FC2-528E302996ED}" type="slidenum">
              <a:rPr lang="en-US" sz="1500">
                <a:latin typeface="Arial" charset="0"/>
              </a:rPr>
              <a:pPr/>
              <a:t>0</a:t>
            </a:fld>
            <a:endParaRPr lang="en-US" sz="1500">
              <a:latin typeface="Arial" charset="0"/>
            </a:endParaRPr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+mj-cs"/>
              </a:rPr>
              <a:t>Course Outline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440862" cy="59944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Introduction and Algorithm Analysis (Ch. 2)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Hash Tables: dictionary data structure (Ch. 5) 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Heaps: priority queue data structures (Ch. 6)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Balanced Search Trees: </a:t>
            </a:r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Splay Trees  (</a:t>
            </a: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Ch. </a:t>
            </a:r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4.5</a:t>
            </a: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Union-Find data structure (Ch. 8.1–8.5)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Graphs: Representations and basic algorithms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Topological Sort (Ch. 9.1-9.2)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Minimum spanning trees (Ch. 9.5)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Shortest-path algorithms  (Ch. 9.3.2)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B-Trees: External-Memory data structures (Ch. 4.7)</a:t>
            </a:r>
          </a:p>
          <a:p>
            <a:pPr>
              <a:defRPr/>
            </a:pPr>
            <a:r>
              <a:rPr lang="en-US" sz="2400" dirty="0" err="1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kD</a:t>
            </a: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-Trees: Multi-Dimensional data structures (Ch. 12.6)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</a:endParaRP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Misc.: Streaming data, randomization</a:t>
            </a:r>
          </a:p>
          <a:p>
            <a:pPr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dirty="0">
                <a:latin typeface="Century Gothic"/>
                <a:cs typeface="Century Gothic"/>
              </a:rPr>
              <a:t>Invented by </a:t>
            </a:r>
            <a:r>
              <a:rPr lang="en-US" dirty="0" err="1" smtClean="0">
                <a:latin typeface="Century Gothic"/>
                <a:cs typeface="Century Gothic"/>
              </a:rPr>
              <a:t>Sleator</a:t>
            </a:r>
            <a:r>
              <a:rPr lang="en-US" dirty="0" smtClean="0">
                <a:latin typeface="Century Gothic"/>
                <a:cs typeface="Century Gothic"/>
              </a:rPr>
              <a:t> </a:t>
            </a:r>
            <a:r>
              <a:rPr lang="en-US" dirty="0">
                <a:latin typeface="Century Gothic"/>
                <a:cs typeface="Century Gothic"/>
              </a:rPr>
              <a:t>and </a:t>
            </a:r>
            <a:r>
              <a:rPr lang="en-US" dirty="0" err="1" smtClean="0">
                <a:latin typeface="Century Gothic"/>
                <a:cs typeface="Century Gothic"/>
              </a:rPr>
              <a:t>Tarjan</a:t>
            </a:r>
            <a:r>
              <a:rPr lang="en-US" dirty="0">
                <a:latin typeface="Century Gothic"/>
                <a:cs typeface="Century Gothic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Century Gothic"/>
                <a:cs typeface="Century Gothic"/>
              </a:rPr>
              <a:t> </a:t>
            </a:r>
            <a:r>
              <a:rPr lang="en-US" dirty="0" smtClean="0">
                <a:solidFill>
                  <a:srgbClr val="0033CC"/>
                </a:solidFill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0033CC"/>
                </a:solidFill>
                <a:latin typeface="Century Gothic"/>
                <a:cs typeface="Century Gothic"/>
              </a:rPr>
              <a:t>Self</a:t>
            </a:r>
            <a:r>
              <a:rPr lang="en-US" sz="2400" dirty="0">
                <a:solidFill>
                  <a:srgbClr val="0033CC"/>
                </a:solidFill>
                <a:latin typeface="Century Gothic"/>
                <a:cs typeface="Century Gothic"/>
              </a:rPr>
              <a:t>-adjusting Binary Search </a:t>
            </a:r>
            <a:r>
              <a:rPr lang="en-US" sz="2400" dirty="0" smtClean="0">
                <a:solidFill>
                  <a:srgbClr val="0033CC"/>
                </a:solidFill>
                <a:latin typeface="Century Gothic"/>
                <a:cs typeface="Century Gothic"/>
              </a:rPr>
              <a:t>Trees. JACM</a:t>
            </a:r>
            <a:r>
              <a:rPr lang="en-US" sz="2400" dirty="0">
                <a:solidFill>
                  <a:srgbClr val="0033CC"/>
                </a:solidFill>
                <a:latin typeface="Century Gothic"/>
                <a:cs typeface="Century Gothic"/>
              </a:rPr>
              <a:t>, pp. 652-686, </a:t>
            </a:r>
            <a:r>
              <a:rPr lang="en-US" sz="2400" dirty="0" smtClean="0">
                <a:solidFill>
                  <a:srgbClr val="0033CC"/>
                </a:solidFill>
                <a:latin typeface="Century Gothic"/>
                <a:cs typeface="Century Gothic"/>
              </a:rPr>
              <a:t>1985.</a:t>
            </a:r>
          </a:p>
          <a:p>
            <a:pPr marL="0" indent="0">
              <a:buNone/>
            </a:pPr>
            <a:endParaRPr lang="en-US" dirty="0">
              <a:latin typeface="Century Gothic"/>
              <a:cs typeface="Century Gothic"/>
            </a:endParaRPr>
          </a:p>
          <a:p>
            <a:r>
              <a:rPr lang="en-US" dirty="0" smtClean="0">
                <a:latin typeface="Century Gothic"/>
                <a:cs typeface="Century Gothic"/>
              </a:rPr>
              <a:t> BSTs (</a:t>
            </a:r>
            <a:r>
              <a:rPr lang="en-US" dirty="0">
                <a:latin typeface="Century Gothic"/>
                <a:cs typeface="Century Gothic"/>
              </a:rPr>
              <a:t>AVL, weight balanced, B-</a:t>
            </a:r>
            <a:r>
              <a:rPr lang="en-US" dirty="0" smtClean="0">
                <a:latin typeface="Century Gothic"/>
                <a:cs typeface="Century Gothic"/>
              </a:rPr>
              <a:t>Trees) </a:t>
            </a:r>
            <a:r>
              <a:rPr lang="en-US" dirty="0">
                <a:latin typeface="Century Gothic"/>
                <a:cs typeface="Century Gothic"/>
              </a:rPr>
              <a:t>have </a:t>
            </a:r>
            <a:endParaRPr lang="en-US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O</a:t>
            </a:r>
            <a:r>
              <a:rPr lang="en-US" sz="2400" dirty="0">
                <a:latin typeface="Century Gothic"/>
                <a:cs typeface="Century Gothic"/>
              </a:rPr>
              <a:t>(log n) </a:t>
            </a:r>
            <a:r>
              <a:rPr lang="en-US" sz="2400" dirty="0" smtClean="0">
                <a:latin typeface="Century Gothic"/>
                <a:cs typeface="Century Gothic"/>
              </a:rPr>
              <a:t>worst </a:t>
            </a:r>
            <a:r>
              <a:rPr lang="en-US" sz="2400" dirty="0">
                <a:latin typeface="Century Gothic"/>
                <a:cs typeface="Century Gothic"/>
              </a:rPr>
              <a:t>case </a:t>
            </a:r>
            <a:r>
              <a:rPr lang="en-US" sz="2400" dirty="0" smtClean="0">
                <a:latin typeface="Century Gothic"/>
                <a:cs typeface="Century Gothic"/>
              </a:rPr>
              <a:t>search 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but </a:t>
            </a:r>
            <a:r>
              <a:rPr lang="en-US" sz="2400" dirty="0">
                <a:latin typeface="Century Gothic"/>
                <a:cs typeface="Century Gothic"/>
              </a:rPr>
              <a:t>are </a:t>
            </a:r>
            <a:r>
              <a:rPr lang="en-US" sz="2400" dirty="0" smtClean="0">
                <a:latin typeface="Century Gothic"/>
                <a:cs typeface="Century Gothic"/>
              </a:rPr>
              <a:t>complicated </a:t>
            </a:r>
            <a:r>
              <a:rPr lang="en-US" sz="2400" dirty="0">
                <a:latin typeface="Century Gothic"/>
                <a:cs typeface="Century Gothic"/>
              </a:rPr>
              <a:t>to </a:t>
            </a:r>
            <a:r>
              <a:rPr lang="en-US" sz="2400" dirty="0" smtClean="0">
                <a:latin typeface="Century Gothic"/>
                <a:cs typeface="Century Gothic"/>
              </a:rPr>
              <a:t>implement</a:t>
            </a: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and/or require </a:t>
            </a:r>
            <a:r>
              <a:rPr lang="en-US" sz="2400" dirty="0">
                <a:latin typeface="Century Gothic"/>
                <a:cs typeface="Century Gothic"/>
              </a:rPr>
              <a:t>extra space for </a:t>
            </a:r>
            <a:r>
              <a:rPr lang="en-US" sz="2400" dirty="0" smtClean="0">
                <a:latin typeface="Century Gothic"/>
                <a:cs typeface="Century Gothic"/>
              </a:rPr>
              <a:t>balance</a:t>
            </a: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r>
              <a:rPr lang="en-US" dirty="0">
                <a:latin typeface="Century Gothic"/>
                <a:cs typeface="Century Gothic"/>
              </a:rPr>
              <a:t>  </a:t>
            </a:r>
            <a:r>
              <a:rPr lang="en-US" dirty="0" smtClean="0">
                <a:latin typeface="Century Gothic"/>
                <a:cs typeface="Century Gothic"/>
              </a:rPr>
              <a:t>No explicit </a:t>
            </a:r>
            <a:r>
              <a:rPr lang="en-US" dirty="0">
                <a:latin typeface="Century Gothic"/>
                <a:cs typeface="Century Gothic"/>
              </a:rPr>
              <a:t>balance </a:t>
            </a:r>
            <a:r>
              <a:rPr lang="en-US" dirty="0" smtClean="0">
                <a:latin typeface="Century Gothic"/>
                <a:cs typeface="Century Gothic"/>
              </a:rPr>
              <a:t>condition in Splay Trees</a:t>
            </a:r>
          </a:p>
          <a:p>
            <a:pPr lvl="1"/>
            <a:r>
              <a:rPr lang="en-US" dirty="0" smtClean="0">
                <a:latin typeface="Century Gothic"/>
                <a:cs typeface="Century Gothic"/>
              </a:rPr>
              <a:t>Instead apply </a:t>
            </a:r>
            <a:r>
              <a:rPr lang="en-US" dirty="0">
                <a:latin typeface="Century Gothic"/>
                <a:cs typeface="Century Gothic"/>
              </a:rPr>
              <a:t>a simple restructuring heuristic, called </a:t>
            </a:r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splaying </a:t>
            </a:r>
            <a:r>
              <a:rPr lang="en-US" dirty="0" smtClean="0">
                <a:latin typeface="Century Gothic"/>
                <a:cs typeface="Century Gothic"/>
              </a:rPr>
              <a:t>every time</a:t>
            </a:r>
            <a:r>
              <a:rPr lang="en-US" dirty="0">
                <a:latin typeface="Century Gothic"/>
                <a:cs typeface="Century Gothic"/>
              </a:rPr>
              <a:t> </a:t>
            </a:r>
            <a:r>
              <a:rPr lang="en-US" dirty="0" smtClean="0">
                <a:latin typeface="Century Gothic"/>
                <a:cs typeface="Century Gothic"/>
              </a:rPr>
              <a:t>the </a:t>
            </a:r>
            <a:r>
              <a:rPr lang="en-US" dirty="0">
                <a:latin typeface="Century Gothic"/>
                <a:cs typeface="Century Gothic"/>
              </a:rPr>
              <a:t>tree is accessed</a:t>
            </a:r>
            <a:r>
              <a:rPr lang="en-US" dirty="0" smtClean="0">
                <a:latin typeface="Century Gothic"/>
                <a:cs typeface="Century Gothic"/>
              </a:rPr>
              <a:t>.</a:t>
            </a:r>
            <a:endParaRPr lang="en-US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732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Intuition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For </a:t>
            </a:r>
            <a:r>
              <a:rPr lang="en-US" sz="2400" dirty="0">
                <a:latin typeface="Century Gothic"/>
                <a:cs typeface="Century Gothic"/>
              </a:rPr>
              <a:t>search cost to be small in </a:t>
            </a:r>
            <a:r>
              <a:rPr lang="en-US" sz="2400" dirty="0" smtClean="0">
                <a:latin typeface="Century Gothic"/>
                <a:cs typeface="Century Gothic"/>
              </a:rPr>
              <a:t>a BST, the item must </a:t>
            </a:r>
            <a:r>
              <a:rPr lang="en-US" sz="2400" dirty="0">
                <a:latin typeface="Century Gothic"/>
                <a:cs typeface="Century Gothic"/>
              </a:rPr>
              <a:t>be close to the root. </a:t>
            </a:r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Many </a:t>
            </a:r>
            <a:r>
              <a:rPr lang="en-US" sz="2400" dirty="0">
                <a:latin typeface="Century Gothic"/>
                <a:cs typeface="Century Gothic"/>
              </a:rPr>
              <a:t>tree-</a:t>
            </a:r>
            <a:r>
              <a:rPr lang="en-US" sz="2400" dirty="0" smtClean="0">
                <a:latin typeface="Century Gothic"/>
                <a:cs typeface="Century Gothic"/>
              </a:rPr>
              <a:t>restructuring </a:t>
            </a:r>
            <a:r>
              <a:rPr lang="en-US" sz="2400" dirty="0">
                <a:latin typeface="Century Gothic"/>
                <a:cs typeface="Century Gothic"/>
              </a:rPr>
              <a:t>rules try to move the accessed item closer to the root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pPr marL="231775" lvl="1" indent="-231775">
              <a:buClr>
                <a:schemeClr val="tx2"/>
              </a:buClr>
              <a:buFont typeface="Monotype Sorts" charset="0"/>
              <a:buChar char="n"/>
            </a:pPr>
            <a:r>
              <a:rPr lang="en-US" sz="2400" dirty="0">
                <a:latin typeface="Century Gothic"/>
                <a:cs typeface="Century Gothic"/>
              </a:rPr>
              <a:t>Same idea </a:t>
            </a:r>
            <a:r>
              <a:rPr lang="en-US" sz="2400" dirty="0" smtClean="0">
                <a:latin typeface="Century Gothic"/>
                <a:cs typeface="Century Gothic"/>
              </a:rPr>
              <a:t>behind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caching</a:t>
            </a:r>
            <a:r>
              <a:rPr lang="en-US" sz="2400" dirty="0">
                <a:latin typeface="Century Gothic"/>
                <a:cs typeface="Century Gothic"/>
              </a:rPr>
              <a:t>---keep recently accessed data in fast </a:t>
            </a:r>
            <a:r>
              <a:rPr lang="en-US" sz="2400" dirty="0" smtClean="0">
                <a:latin typeface="Century Gothic"/>
                <a:cs typeface="Century Gothic"/>
              </a:rPr>
              <a:t>memory</a:t>
            </a:r>
            <a:r>
              <a:rPr lang="en-US" sz="2400" dirty="0">
                <a:latin typeface="Century Gothic"/>
                <a:cs typeface="Century Gothic"/>
              </a:rPr>
              <a:t>.</a:t>
            </a:r>
            <a:endParaRPr lang="en-US" sz="2400" dirty="0" smtClean="0">
              <a:latin typeface="Century Gothic"/>
              <a:cs typeface="Century Gothic"/>
            </a:endParaRP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6630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3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Intuition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Two classical heuristics </a:t>
            </a:r>
            <a:r>
              <a:rPr lang="en-US" sz="2400" dirty="0">
                <a:latin typeface="Century Gothic"/>
                <a:cs typeface="Century Gothic"/>
              </a:rPr>
              <a:t>are</a:t>
            </a:r>
            <a:r>
              <a:rPr lang="en-US" sz="2400" dirty="0" smtClean="0">
                <a:latin typeface="Century Gothic"/>
                <a:cs typeface="Century Gothic"/>
              </a:rPr>
              <a:t>: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Single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rotation</a:t>
            </a:r>
            <a:r>
              <a:rPr lang="en-US" sz="2400" dirty="0">
                <a:latin typeface="Century Gothic"/>
                <a:cs typeface="Century Gothic"/>
              </a:rPr>
              <a:t>:  after accessing item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 at a node x, rotate </a:t>
            </a:r>
            <a:r>
              <a:rPr lang="en-US" sz="2400" dirty="0" smtClean="0">
                <a:latin typeface="Century Gothic"/>
                <a:cs typeface="Century Gothic"/>
              </a:rPr>
              <a:t>the edge </a:t>
            </a:r>
            <a:r>
              <a:rPr lang="en-US" sz="2400" dirty="0">
                <a:latin typeface="Century Gothic"/>
                <a:cs typeface="Century Gothic"/>
              </a:rPr>
              <a:t>joining x to its parent; unless x is the root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Move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to Root</a:t>
            </a:r>
            <a:r>
              <a:rPr lang="en-US" sz="2400" dirty="0">
                <a:latin typeface="Century Gothic"/>
                <a:cs typeface="Century Gothic"/>
              </a:rPr>
              <a:t>: after accessing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 at a node x, rotate edges </a:t>
            </a:r>
            <a:r>
              <a:rPr lang="en-US" sz="2400" dirty="0" smtClean="0">
                <a:latin typeface="Century Gothic"/>
                <a:cs typeface="Century Gothic"/>
              </a:rPr>
              <a:t>joining x </a:t>
            </a:r>
            <a:r>
              <a:rPr lang="en-US" sz="2400" dirty="0">
                <a:latin typeface="Century Gothic"/>
                <a:cs typeface="Century Gothic"/>
              </a:rPr>
              <a:t>and p(x), and repeat until x becomes the </a:t>
            </a:r>
            <a:r>
              <a:rPr lang="en-US" sz="2400" dirty="0" smtClean="0">
                <a:latin typeface="Century Gothic"/>
                <a:cs typeface="Century Gothic"/>
              </a:rPr>
              <a:t>root.</a:t>
            </a: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Unfortunately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latin typeface="Century Gothic"/>
                <a:cs typeface="Century Gothic"/>
              </a:rPr>
              <a:t>neither </a:t>
            </a:r>
            <a:r>
              <a:rPr lang="en-US" sz="2400" dirty="0">
                <a:latin typeface="Century Gothic"/>
                <a:cs typeface="Century Gothic"/>
              </a:rPr>
              <a:t>heuristic </a:t>
            </a:r>
            <a:r>
              <a:rPr lang="en-US" sz="2400" dirty="0" smtClean="0">
                <a:latin typeface="Century Gothic"/>
                <a:cs typeface="Century Gothic"/>
              </a:rPr>
              <a:t>has O</a:t>
            </a:r>
            <a:r>
              <a:rPr lang="en-US" sz="2400" dirty="0">
                <a:latin typeface="Century Gothic"/>
                <a:cs typeface="Century Gothic"/>
              </a:rPr>
              <a:t>(log n) search cost: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Show arbitrarily </a:t>
            </a:r>
            <a:r>
              <a:rPr lang="en-US" sz="2400" dirty="0">
                <a:latin typeface="Century Gothic"/>
                <a:cs typeface="Century Gothic"/>
              </a:rPr>
              <a:t>long access </a:t>
            </a:r>
            <a:r>
              <a:rPr lang="en-US" sz="2400" dirty="0" smtClean="0">
                <a:latin typeface="Century Gothic"/>
                <a:cs typeface="Century Gothic"/>
              </a:rPr>
              <a:t>sequences where time </a:t>
            </a:r>
            <a:r>
              <a:rPr lang="en-US" sz="2400" dirty="0">
                <a:latin typeface="Century Gothic"/>
                <a:cs typeface="Century Gothic"/>
              </a:rPr>
              <a:t>per access is O(n).</a:t>
            </a: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4963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4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Intuition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 </a:t>
            </a:r>
            <a:r>
              <a:rPr lang="en-US" sz="2400" dirty="0" err="1">
                <a:latin typeface="Century Gothic"/>
                <a:cs typeface="Century Gothic"/>
              </a:rPr>
              <a:t>Sleator-Tarjan's</a:t>
            </a:r>
            <a:r>
              <a:rPr lang="en-US" sz="2400" dirty="0">
                <a:latin typeface="Century Gothic"/>
                <a:cs typeface="Century Gothic"/>
              </a:rPr>
              <a:t> heuristic </a:t>
            </a:r>
            <a:r>
              <a:rPr lang="en-US" sz="2400" dirty="0" smtClean="0">
                <a:latin typeface="Century Gothic"/>
                <a:cs typeface="Century Gothic"/>
              </a:rPr>
              <a:t>similar </a:t>
            </a:r>
            <a:r>
              <a:rPr lang="en-US" sz="2400" dirty="0">
                <a:latin typeface="Century Gothic"/>
                <a:cs typeface="Century Gothic"/>
              </a:rPr>
              <a:t>to move-to-front, but </a:t>
            </a:r>
            <a:r>
              <a:rPr lang="en-US" sz="2400" dirty="0" smtClean="0">
                <a:latin typeface="Century Gothic"/>
                <a:cs typeface="Century Gothic"/>
              </a:rPr>
              <a:t>its swaps </a:t>
            </a:r>
            <a:r>
              <a:rPr lang="en-US" sz="2400" dirty="0">
                <a:latin typeface="Century Gothic"/>
                <a:cs typeface="Century Gothic"/>
              </a:rPr>
              <a:t>depend on the structure of the tree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The basic operation is rotation.</a:t>
            </a: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splay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34471" y="1371600"/>
            <a:ext cx="9466729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5083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5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</a:t>
            </a:r>
            <a:r>
              <a:rPr lang="en-US" dirty="0" smtClean="0">
                <a:latin typeface="Century Gothic"/>
                <a:cs typeface="Century Gothic"/>
              </a:rPr>
              <a:t>: Advantages</a:t>
            </a:r>
            <a:endParaRPr lang="en-US" dirty="0" smtClean="0">
              <a:latin typeface="Century Gothic"/>
              <a:cs typeface="Century Gothic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Simplicity and uniformity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Elegant theory and amortized analysis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a</a:t>
            </a:r>
            <a:r>
              <a:rPr lang="en-US" sz="2400" dirty="0" smtClean="0">
                <a:latin typeface="Century Gothic"/>
                <a:cs typeface="Century Gothic"/>
              </a:rPr>
              <a:t>verage over a Worst-case sequence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u</a:t>
            </a:r>
            <a:r>
              <a:rPr lang="en-US" sz="2400" dirty="0" smtClean="0">
                <a:latin typeface="Century Gothic"/>
                <a:cs typeface="Century Gothic"/>
              </a:rPr>
              <a:t>seful metric for data structure performance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Besides access, insert, delete, many other useful ops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Access always brings node to the root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Join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6630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6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Splaying at a Node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dirty="0" smtClean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To splay at a node x, repeat the following step until x becomes the root</a:t>
            </a:r>
            <a:r>
              <a:rPr lang="en-US" sz="2400" dirty="0" smtClean="0">
                <a:latin typeface="Century Gothic"/>
                <a:cs typeface="Century Gothic"/>
              </a:rPr>
              <a:t>: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Case 1 (</a:t>
            </a:r>
            <a:r>
              <a:rPr lang="en-US" sz="2400" dirty="0" err="1" smtClean="0">
                <a:latin typeface="Century Gothic"/>
                <a:cs typeface="Century Gothic"/>
              </a:rPr>
              <a:t>Zig</a:t>
            </a:r>
            <a:r>
              <a:rPr lang="en-US" sz="2400" dirty="0" smtClean="0">
                <a:latin typeface="Century Gothic"/>
                <a:cs typeface="Century Gothic"/>
              </a:rPr>
              <a:t>): </a:t>
            </a:r>
            <a:r>
              <a:rPr lang="en-US" sz="2400" dirty="0">
                <a:latin typeface="Century Gothic"/>
                <a:cs typeface="Century Gothic"/>
              </a:rPr>
              <a:t>[terminating single rotation]</a:t>
            </a: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     if </a:t>
            </a:r>
            <a:r>
              <a:rPr lang="en-US" sz="2400" dirty="0">
                <a:latin typeface="Century Gothic"/>
                <a:cs typeface="Century Gothic"/>
              </a:rPr>
              <a:t>p(x) is the root, rotate the edge between x and p(x);</a:t>
            </a: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            and </a:t>
            </a:r>
            <a:r>
              <a:rPr lang="en-US" sz="2400" dirty="0">
                <a:latin typeface="Century Gothic"/>
                <a:cs typeface="Century Gothic"/>
              </a:rPr>
              <a:t>terminate.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splay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6044" y="1600200"/>
            <a:ext cx="9466729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9797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7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Splaying at a Node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dirty="0" smtClean="0">
                <a:latin typeface="Century Gothic"/>
                <a:cs typeface="Century Gothic"/>
              </a:rPr>
              <a:t> </a:t>
            </a:r>
            <a:r>
              <a:rPr lang="en-US" sz="2400" dirty="0"/>
              <a:t> </a:t>
            </a:r>
            <a:r>
              <a:rPr lang="en-US" sz="2400" dirty="0">
                <a:latin typeface="Century Gothic"/>
                <a:cs typeface="Century Gothic"/>
              </a:rPr>
              <a:t>Case 2 (</a:t>
            </a:r>
            <a:r>
              <a:rPr lang="en-US" sz="2400" dirty="0" err="1">
                <a:latin typeface="Century Gothic"/>
                <a:cs typeface="Century Gothic"/>
              </a:rPr>
              <a:t>zig-zig</a:t>
            </a:r>
            <a:r>
              <a:rPr lang="en-US" sz="2400" dirty="0">
                <a:latin typeface="Century Gothic"/>
                <a:cs typeface="Century Gothic"/>
              </a:rPr>
              <a:t>):  [two single rotations]</a:t>
            </a: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   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 if (p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(x)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not root)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and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(x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and p(x)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both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left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or both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right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children) </a:t>
            </a: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	</a:t>
            </a:r>
            <a:r>
              <a:rPr lang="en-US" sz="2000" dirty="0" smtClean="0">
                <a:latin typeface="Century Gothic"/>
                <a:cs typeface="Century Gothic"/>
              </a:rPr>
              <a:t>first </a:t>
            </a:r>
            <a:r>
              <a:rPr lang="en-US" sz="2000" dirty="0">
                <a:latin typeface="Century Gothic"/>
                <a:cs typeface="Century Gothic"/>
              </a:rPr>
              <a:t>rotate the edge </a:t>
            </a:r>
            <a:r>
              <a:rPr lang="en-US" sz="2000" dirty="0" smtClean="0">
                <a:latin typeface="Century Gothic"/>
                <a:cs typeface="Century Gothic"/>
              </a:rPr>
              <a:t>from p</a:t>
            </a:r>
            <a:r>
              <a:rPr lang="en-US" sz="2000" dirty="0">
                <a:latin typeface="Century Gothic"/>
                <a:cs typeface="Century Gothic"/>
              </a:rPr>
              <a:t>(x) </a:t>
            </a:r>
            <a:r>
              <a:rPr lang="en-US" sz="2000" dirty="0" smtClean="0">
                <a:latin typeface="Century Gothic"/>
                <a:cs typeface="Century Gothic"/>
              </a:rPr>
              <a:t>to its </a:t>
            </a:r>
            <a:r>
              <a:rPr lang="en-US" sz="2000" dirty="0">
                <a:latin typeface="Century Gothic"/>
                <a:cs typeface="Century Gothic"/>
              </a:rPr>
              <a:t>grandparent g(x), and </a:t>
            </a:r>
            <a:r>
              <a:rPr lang="en-US" sz="2000" dirty="0" smtClean="0">
                <a:latin typeface="Century Gothic"/>
                <a:cs typeface="Century Gothic"/>
              </a:rPr>
              <a:t>	then </a:t>
            </a:r>
            <a:r>
              <a:rPr lang="en-US" sz="2000" dirty="0">
                <a:latin typeface="Century Gothic"/>
                <a:cs typeface="Century Gothic"/>
              </a:rPr>
              <a:t>rotate the </a:t>
            </a:r>
            <a:r>
              <a:rPr lang="en-US" sz="2000" dirty="0" smtClean="0">
                <a:latin typeface="Century Gothic"/>
                <a:cs typeface="Century Gothic"/>
              </a:rPr>
              <a:t>edge from x  to p</a:t>
            </a:r>
            <a:r>
              <a:rPr lang="en-US" sz="2000" dirty="0">
                <a:latin typeface="Century Gothic"/>
                <a:cs typeface="Century Gothic"/>
              </a:rPr>
              <a:t>(x).</a:t>
            </a:r>
          </a:p>
          <a:p>
            <a:endParaRPr lang="en-US" sz="2000" dirty="0">
              <a:latin typeface="Century Gothic"/>
              <a:cs typeface="Century Gothic"/>
            </a:endParaRP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4" name="Picture 3" descr="Zigzi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09600" y="2971800"/>
            <a:ext cx="7515636" cy="31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8920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8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Splaying at a Node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dirty="0" smtClean="0">
                <a:latin typeface="Century Gothic"/>
                <a:cs typeface="Century Gothic"/>
              </a:rPr>
              <a:t> </a:t>
            </a:r>
            <a:r>
              <a:rPr lang="en-US" sz="2400" dirty="0"/>
              <a:t> </a:t>
            </a:r>
            <a:r>
              <a:rPr lang="en-US" sz="2400" dirty="0">
                <a:latin typeface="Century Gothic"/>
                <a:cs typeface="Century Gothic"/>
              </a:rPr>
              <a:t>Case 2 (</a:t>
            </a:r>
            <a:r>
              <a:rPr lang="en-US" sz="2400" dirty="0" err="1">
                <a:latin typeface="Century Gothic"/>
                <a:cs typeface="Century Gothic"/>
              </a:rPr>
              <a:t>zig-</a:t>
            </a:r>
            <a:r>
              <a:rPr lang="en-US" sz="2400" dirty="0" err="1" smtClean="0">
                <a:latin typeface="Century Gothic"/>
                <a:cs typeface="Century Gothic"/>
              </a:rPr>
              <a:t>zag</a:t>
            </a:r>
            <a:r>
              <a:rPr lang="en-US" sz="2400" dirty="0">
                <a:latin typeface="Century Gothic"/>
                <a:cs typeface="Century Gothic"/>
              </a:rPr>
              <a:t>):  </a:t>
            </a:r>
            <a:r>
              <a:rPr lang="en-US" sz="2400" dirty="0" smtClean="0">
                <a:latin typeface="Century Gothic"/>
                <a:cs typeface="Century Gothic"/>
              </a:rPr>
              <a:t>[double rotation]</a:t>
            </a:r>
            <a:endParaRPr lang="en-US" sz="2400" dirty="0">
              <a:latin typeface="Century Gothic"/>
              <a:cs typeface="Century Gothic"/>
            </a:endParaRP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   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 if (p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(x)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not root)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and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(x is left child and p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(x)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right child) </a:t>
            </a:r>
          </a:p>
          <a:p>
            <a:pPr marL="0" indent="0">
              <a:buNone/>
            </a:pPr>
            <a:r>
              <a:rPr lang="en-US" sz="2400" dirty="0">
                <a:latin typeface="Century Gothic"/>
                <a:cs typeface="Century Gothic"/>
              </a:rPr>
              <a:t>	</a:t>
            </a:r>
            <a:r>
              <a:rPr lang="en-US" sz="2000" dirty="0" smtClean="0">
                <a:latin typeface="Century Gothic"/>
                <a:cs typeface="Century Gothic"/>
              </a:rPr>
              <a:t>first </a:t>
            </a:r>
            <a:r>
              <a:rPr lang="en-US" sz="2000" dirty="0">
                <a:latin typeface="Century Gothic"/>
                <a:cs typeface="Century Gothic"/>
              </a:rPr>
              <a:t>rotate the edge </a:t>
            </a:r>
            <a:r>
              <a:rPr lang="en-US" sz="2000" dirty="0" smtClean="0">
                <a:latin typeface="Century Gothic"/>
                <a:cs typeface="Century Gothic"/>
              </a:rPr>
              <a:t>from from x to p</a:t>
            </a:r>
            <a:r>
              <a:rPr lang="en-US" sz="2000" dirty="0">
                <a:latin typeface="Century Gothic"/>
                <a:cs typeface="Century Gothic"/>
              </a:rPr>
              <a:t>(</a:t>
            </a:r>
            <a:r>
              <a:rPr lang="en-US" sz="2000" dirty="0" smtClean="0">
                <a:latin typeface="Century Gothic"/>
                <a:cs typeface="Century Gothic"/>
              </a:rPr>
              <a:t>x), </a:t>
            </a:r>
            <a:r>
              <a:rPr lang="en-US" sz="2000" dirty="0">
                <a:latin typeface="Century Gothic"/>
                <a:cs typeface="Century Gothic"/>
              </a:rPr>
              <a:t>and </a:t>
            </a:r>
            <a:endParaRPr lang="en-US" sz="2000" dirty="0" smtClean="0">
              <a:latin typeface="Century Gothic"/>
              <a:cs typeface="Century Gothic"/>
            </a:endParaRPr>
          </a:p>
          <a:p>
            <a:pPr marL="0" indent="0">
              <a:buNone/>
            </a:pPr>
            <a:r>
              <a:rPr lang="en-US" sz="2000" dirty="0">
                <a:latin typeface="Century Gothic"/>
                <a:cs typeface="Century Gothic"/>
              </a:rPr>
              <a:t>	</a:t>
            </a:r>
            <a:r>
              <a:rPr lang="en-US" sz="2000" dirty="0" smtClean="0">
                <a:latin typeface="Century Gothic"/>
                <a:cs typeface="Century Gothic"/>
              </a:rPr>
              <a:t>then </a:t>
            </a:r>
            <a:r>
              <a:rPr lang="en-US" sz="2000" dirty="0">
                <a:latin typeface="Century Gothic"/>
                <a:cs typeface="Century Gothic"/>
              </a:rPr>
              <a:t>rotate the </a:t>
            </a:r>
            <a:r>
              <a:rPr lang="en-US" sz="2000" dirty="0" smtClean="0">
                <a:latin typeface="Century Gothic"/>
                <a:cs typeface="Century Gothic"/>
              </a:rPr>
              <a:t>edge from x  to its new p</a:t>
            </a:r>
            <a:r>
              <a:rPr lang="en-US" sz="2000" dirty="0">
                <a:latin typeface="Century Gothic"/>
                <a:cs typeface="Century Gothic"/>
              </a:rPr>
              <a:t>(x).</a:t>
            </a:r>
          </a:p>
          <a:p>
            <a:endParaRPr lang="en-US" sz="2000" dirty="0">
              <a:latin typeface="Century Gothic"/>
              <a:cs typeface="Century Gothic"/>
            </a:endParaRP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Zigza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38200" y="3200400"/>
            <a:ext cx="775462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64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9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+mj-cs"/>
              </a:rPr>
              <a:t>Splay 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  <a:latin typeface="Tahoma" charset="0"/>
                <a:ea typeface="ＭＳ Ｐゴシック" charset="0"/>
              </a:rPr>
              <a:t>Splay</a:t>
            </a:r>
            <a:r>
              <a:rPr lang="en-US">
                <a:latin typeface="Tahoma" charset="0"/>
                <a:ea typeface="ＭＳ Ｐゴシック" charset="0"/>
              </a:rPr>
              <a:t> </a:t>
            </a:r>
            <a:r>
              <a:rPr lang="en-US">
                <a:solidFill>
                  <a:srgbClr val="FF0000"/>
                </a:solidFill>
                <a:latin typeface="Tahoma" charset="0"/>
                <a:ea typeface="ＭＳ Ｐゴシック" charset="0"/>
              </a:rPr>
              <a:t>at a node:</a:t>
            </a:r>
            <a:r>
              <a:rPr lang="en-US">
                <a:latin typeface="Tahoma" charset="0"/>
                <a:ea typeface="ＭＳ Ｐゴシック" charset="0"/>
              </a:rPr>
              <a:t> rotate the node up to the root</a:t>
            </a:r>
          </a:p>
          <a:p>
            <a:pPr>
              <a:spcBef>
                <a:spcPct val="25000"/>
              </a:spcBef>
            </a:pPr>
            <a:r>
              <a:rPr lang="en-US">
                <a:solidFill>
                  <a:srgbClr val="FF0000"/>
                </a:solidFill>
                <a:latin typeface="Tahoma" charset="0"/>
                <a:ea typeface="ＭＳ Ｐゴシック" charset="0"/>
              </a:rPr>
              <a:t>Basic operations </a:t>
            </a:r>
            <a:r>
              <a:rPr lang="en-US" sz="2400">
                <a:solidFill>
                  <a:schemeClr val="tx1"/>
                </a:solidFill>
                <a:latin typeface="Tahoma" charset="0"/>
                <a:ea typeface="ＭＳ Ｐゴシック" charset="0"/>
              </a:rPr>
              <a:t>(repeat until node X is at root)</a:t>
            </a:r>
            <a:r>
              <a:rPr lang="en-US">
                <a:solidFill>
                  <a:srgbClr val="FF0000"/>
                </a:solidFill>
                <a:latin typeface="Tahoma" charset="0"/>
                <a:ea typeface="ＭＳ Ｐゴシック" charset="0"/>
              </a:rPr>
              <a:t>:</a:t>
            </a:r>
          </a:p>
          <a:p>
            <a:pPr lvl="1">
              <a:spcBef>
                <a:spcPct val="25000"/>
              </a:spcBef>
            </a:pPr>
            <a:r>
              <a:rPr lang="en-US" sz="2400">
                <a:solidFill>
                  <a:srgbClr val="FF0000"/>
                </a:solidFill>
                <a:latin typeface="Tahoma" charset="0"/>
                <a:ea typeface="ＭＳ Ｐゴシック" charset="0"/>
              </a:rPr>
              <a:t>zig-zag:</a:t>
            </a:r>
          </a:p>
          <a:p>
            <a:pPr lvl="1">
              <a:spcBef>
                <a:spcPct val="500000"/>
              </a:spcBef>
            </a:pPr>
            <a:r>
              <a:rPr lang="en-US" sz="2400">
                <a:solidFill>
                  <a:srgbClr val="FF0000"/>
                </a:solidFill>
                <a:latin typeface="Tahoma" charset="0"/>
                <a:ea typeface="ＭＳ Ｐゴシック" charset="0"/>
              </a:rPr>
              <a:t>zig-zig:</a:t>
            </a:r>
          </a:p>
        </p:txBody>
      </p:sp>
      <p:grpSp>
        <p:nvGrpSpPr>
          <p:cNvPr id="58372" name="Group 4"/>
          <p:cNvGrpSpPr>
            <a:grpSpLocks/>
          </p:cNvGrpSpPr>
          <p:nvPr/>
        </p:nvGrpSpPr>
        <p:grpSpPr bwMode="auto">
          <a:xfrm>
            <a:off x="2106613" y="2667000"/>
            <a:ext cx="4419600" cy="1893888"/>
            <a:chOff x="2208" y="432"/>
            <a:chExt cx="3696" cy="1584"/>
          </a:xfrm>
        </p:grpSpPr>
        <p:sp>
          <p:nvSpPr>
            <p:cNvPr id="154629" name="Oval 5"/>
            <p:cNvSpPr>
              <a:spLocks noChangeArrowheads="1"/>
            </p:cNvSpPr>
            <p:nvPr/>
          </p:nvSpPr>
          <p:spPr bwMode="auto">
            <a:xfrm>
              <a:off x="2880" y="115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X</a:t>
              </a:r>
            </a:p>
          </p:txBody>
        </p:sp>
        <p:sp>
          <p:nvSpPr>
            <p:cNvPr id="154630" name="Oval 6"/>
            <p:cNvSpPr>
              <a:spLocks noChangeArrowheads="1"/>
            </p:cNvSpPr>
            <p:nvPr/>
          </p:nvSpPr>
          <p:spPr bwMode="auto">
            <a:xfrm>
              <a:off x="2880" y="4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G</a:t>
              </a:r>
            </a:p>
          </p:txBody>
        </p:sp>
        <p:sp>
          <p:nvSpPr>
            <p:cNvPr id="154631" name="Oval 7"/>
            <p:cNvSpPr>
              <a:spLocks noChangeArrowheads="1"/>
            </p:cNvSpPr>
            <p:nvPr/>
          </p:nvSpPr>
          <p:spPr bwMode="auto">
            <a:xfrm>
              <a:off x="2544" y="7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P</a:t>
              </a:r>
            </a:p>
          </p:txBody>
        </p:sp>
        <p:cxnSp>
          <p:nvCxnSpPr>
            <p:cNvPr id="154632" name="AutoShape 8"/>
            <p:cNvCxnSpPr>
              <a:cxnSpLocks noChangeShapeType="1"/>
              <a:stCxn id="154631" idx="5"/>
              <a:endCxn id="154629" idx="1"/>
            </p:cNvCxnSpPr>
            <p:nvPr/>
          </p:nvCxnSpPr>
          <p:spPr bwMode="auto">
            <a:xfrm>
              <a:off x="2789" y="1014"/>
              <a:ext cx="133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33" name="AutoShape 9"/>
            <p:cNvCxnSpPr>
              <a:cxnSpLocks noChangeShapeType="1"/>
              <a:stCxn id="154631" idx="7"/>
              <a:endCxn id="154630" idx="3"/>
            </p:cNvCxnSpPr>
            <p:nvPr/>
          </p:nvCxnSpPr>
          <p:spPr bwMode="auto">
            <a:xfrm flipV="1">
              <a:off x="2789" y="678"/>
              <a:ext cx="133" cy="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34" name="AutoShape 10"/>
            <p:cNvSpPr>
              <a:spLocks noChangeArrowheads="1"/>
            </p:cNvSpPr>
            <p:nvPr/>
          </p:nvSpPr>
          <p:spPr bwMode="auto">
            <a:xfrm>
              <a:off x="2208" y="1249"/>
              <a:ext cx="384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A</a:t>
              </a:r>
            </a:p>
          </p:txBody>
        </p:sp>
        <p:cxnSp>
          <p:nvCxnSpPr>
            <p:cNvPr id="154635" name="AutoShape 11"/>
            <p:cNvCxnSpPr>
              <a:cxnSpLocks noChangeShapeType="1"/>
              <a:stCxn id="154634" idx="0"/>
              <a:endCxn id="154631" idx="3"/>
            </p:cNvCxnSpPr>
            <p:nvPr/>
          </p:nvCxnSpPr>
          <p:spPr bwMode="auto">
            <a:xfrm flipV="1">
              <a:off x="2400" y="1014"/>
              <a:ext cx="186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36" name="AutoShape 12"/>
            <p:cNvSpPr>
              <a:spLocks noChangeArrowheads="1"/>
            </p:cNvSpPr>
            <p:nvPr/>
          </p:nvSpPr>
          <p:spPr bwMode="auto">
            <a:xfrm>
              <a:off x="3120" y="158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C</a:t>
              </a:r>
            </a:p>
          </p:txBody>
        </p:sp>
        <p:sp>
          <p:nvSpPr>
            <p:cNvPr id="154637" name="AutoShape 13"/>
            <p:cNvSpPr>
              <a:spLocks noChangeArrowheads="1"/>
            </p:cNvSpPr>
            <p:nvPr/>
          </p:nvSpPr>
          <p:spPr bwMode="auto">
            <a:xfrm>
              <a:off x="3263" y="864"/>
              <a:ext cx="385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D</a:t>
              </a:r>
            </a:p>
          </p:txBody>
        </p:sp>
        <p:sp>
          <p:nvSpPr>
            <p:cNvPr id="154638" name="AutoShape 14"/>
            <p:cNvSpPr>
              <a:spLocks noChangeArrowheads="1"/>
            </p:cNvSpPr>
            <p:nvPr/>
          </p:nvSpPr>
          <p:spPr bwMode="auto">
            <a:xfrm>
              <a:off x="2592" y="158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B</a:t>
              </a:r>
            </a:p>
          </p:txBody>
        </p:sp>
        <p:cxnSp>
          <p:nvCxnSpPr>
            <p:cNvPr id="154639" name="AutoShape 15"/>
            <p:cNvCxnSpPr>
              <a:cxnSpLocks noChangeShapeType="1"/>
              <a:stCxn id="154630" idx="5"/>
              <a:endCxn id="154637" idx="0"/>
            </p:cNvCxnSpPr>
            <p:nvPr/>
          </p:nvCxnSpPr>
          <p:spPr bwMode="auto">
            <a:xfrm>
              <a:off x="3125" y="678"/>
              <a:ext cx="331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40" name="AutoShape 16"/>
            <p:cNvCxnSpPr>
              <a:cxnSpLocks noChangeShapeType="1"/>
              <a:stCxn id="154629" idx="3"/>
              <a:endCxn id="154638" idx="0"/>
            </p:cNvCxnSpPr>
            <p:nvPr/>
          </p:nvCxnSpPr>
          <p:spPr bwMode="auto">
            <a:xfrm flipH="1">
              <a:off x="2784" y="1399"/>
              <a:ext cx="138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41" name="AutoShape 17"/>
            <p:cNvCxnSpPr>
              <a:cxnSpLocks noChangeShapeType="1"/>
              <a:stCxn id="154629" idx="5"/>
              <a:endCxn id="154636" idx="0"/>
            </p:cNvCxnSpPr>
            <p:nvPr/>
          </p:nvCxnSpPr>
          <p:spPr bwMode="auto">
            <a:xfrm>
              <a:off x="3125" y="1399"/>
              <a:ext cx="187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42" name="Oval 18"/>
            <p:cNvSpPr>
              <a:spLocks noChangeArrowheads="1"/>
            </p:cNvSpPr>
            <p:nvPr/>
          </p:nvSpPr>
          <p:spPr bwMode="auto">
            <a:xfrm>
              <a:off x="4944" y="43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X</a:t>
              </a:r>
            </a:p>
          </p:txBody>
        </p:sp>
        <p:sp>
          <p:nvSpPr>
            <p:cNvPr id="154643" name="Oval 19"/>
            <p:cNvSpPr>
              <a:spLocks noChangeArrowheads="1"/>
            </p:cNvSpPr>
            <p:nvPr/>
          </p:nvSpPr>
          <p:spPr bwMode="auto">
            <a:xfrm>
              <a:off x="5328" y="81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G</a:t>
              </a:r>
            </a:p>
          </p:txBody>
        </p:sp>
        <p:sp>
          <p:nvSpPr>
            <p:cNvPr id="154644" name="Oval 20"/>
            <p:cNvSpPr>
              <a:spLocks noChangeArrowheads="1"/>
            </p:cNvSpPr>
            <p:nvPr/>
          </p:nvSpPr>
          <p:spPr bwMode="auto">
            <a:xfrm>
              <a:off x="4511" y="81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P</a:t>
              </a:r>
            </a:p>
          </p:txBody>
        </p:sp>
        <p:cxnSp>
          <p:nvCxnSpPr>
            <p:cNvPr id="154645" name="AutoShape 21"/>
            <p:cNvCxnSpPr>
              <a:cxnSpLocks noChangeShapeType="1"/>
              <a:stCxn id="154644" idx="7"/>
              <a:endCxn id="154642" idx="3"/>
            </p:cNvCxnSpPr>
            <p:nvPr/>
          </p:nvCxnSpPr>
          <p:spPr bwMode="auto">
            <a:xfrm flipV="1">
              <a:off x="4758" y="678"/>
              <a:ext cx="228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46" name="AutoShape 22"/>
            <p:cNvCxnSpPr>
              <a:cxnSpLocks noChangeShapeType="1"/>
              <a:stCxn id="154642" idx="5"/>
              <a:endCxn id="154643" idx="1"/>
            </p:cNvCxnSpPr>
            <p:nvPr/>
          </p:nvCxnSpPr>
          <p:spPr bwMode="auto">
            <a:xfrm>
              <a:off x="5190" y="678"/>
              <a:ext cx="182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47" name="AutoShape 23"/>
            <p:cNvSpPr>
              <a:spLocks noChangeArrowheads="1"/>
            </p:cNvSpPr>
            <p:nvPr/>
          </p:nvSpPr>
          <p:spPr bwMode="auto">
            <a:xfrm>
              <a:off x="4225" y="1344"/>
              <a:ext cx="385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A</a:t>
              </a:r>
            </a:p>
          </p:txBody>
        </p:sp>
        <p:cxnSp>
          <p:nvCxnSpPr>
            <p:cNvPr id="154648" name="AutoShape 24"/>
            <p:cNvCxnSpPr>
              <a:cxnSpLocks noChangeShapeType="1"/>
              <a:stCxn id="154647" idx="0"/>
              <a:endCxn id="154644" idx="3"/>
            </p:cNvCxnSpPr>
            <p:nvPr/>
          </p:nvCxnSpPr>
          <p:spPr bwMode="auto">
            <a:xfrm flipV="1">
              <a:off x="4416" y="1061"/>
              <a:ext cx="13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49" name="AutoShape 25"/>
            <p:cNvSpPr>
              <a:spLocks noChangeArrowheads="1"/>
            </p:cNvSpPr>
            <p:nvPr/>
          </p:nvSpPr>
          <p:spPr bwMode="auto">
            <a:xfrm>
              <a:off x="5088" y="1344"/>
              <a:ext cx="385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C</a:t>
              </a:r>
            </a:p>
          </p:txBody>
        </p:sp>
        <p:sp>
          <p:nvSpPr>
            <p:cNvPr id="154650" name="AutoShape 26"/>
            <p:cNvSpPr>
              <a:spLocks noChangeArrowheads="1"/>
            </p:cNvSpPr>
            <p:nvPr/>
          </p:nvSpPr>
          <p:spPr bwMode="auto">
            <a:xfrm>
              <a:off x="5520" y="134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D</a:t>
              </a:r>
            </a:p>
          </p:txBody>
        </p:sp>
        <p:sp>
          <p:nvSpPr>
            <p:cNvPr id="154651" name="AutoShape 27"/>
            <p:cNvSpPr>
              <a:spLocks noChangeArrowheads="1"/>
            </p:cNvSpPr>
            <p:nvPr/>
          </p:nvSpPr>
          <p:spPr bwMode="auto">
            <a:xfrm>
              <a:off x="4656" y="134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B</a:t>
              </a:r>
            </a:p>
          </p:txBody>
        </p:sp>
        <p:cxnSp>
          <p:nvCxnSpPr>
            <p:cNvPr id="154652" name="AutoShape 28"/>
            <p:cNvCxnSpPr>
              <a:cxnSpLocks noChangeShapeType="1"/>
              <a:stCxn id="154643" idx="5"/>
              <a:endCxn id="154650" idx="0"/>
            </p:cNvCxnSpPr>
            <p:nvPr/>
          </p:nvCxnSpPr>
          <p:spPr bwMode="auto">
            <a:xfrm>
              <a:off x="5573" y="1061"/>
              <a:ext cx="13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53" name="AutoShape 29"/>
            <p:cNvCxnSpPr>
              <a:cxnSpLocks noChangeShapeType="1"/>
              <a:stCxn id="154644" idx="5"/>
              <a:endCxn id="154651" idx="0"/>
            </p:cNvCxnSpPr>
            <p:nvPr/>
          </p:nvCxnSpPr>
          <p:spPr bwMode="auto">
            <a:xfrm>
              <a:off x="4758" y="1061"/>
              <a:ext cx="9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54" name="AutoShape 30"/>
            <p:cNvCxnSpPr>
              <a:cxnSpLocks noChangeShapeType="1"/>
              <a:stCxn id="154643" idx="3"/>
              <a:endCxn id="154649" idx="0"/>
            </p:cNvCxnSpPr>
            <p:nvPr/>
          </p:nvCxnSpPr>
          <p:spPr bwMode="auto">
            <a:xfrm flipH="1">
              <a:off x="5280" y="1061"/>
              <a:ext cx="9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55" name="AutoShape 31"/>
            <p:cNvSpPr>
              <a:spLocks noChangeArrowheads="1"/>
            </p:cNvSpPr>
            <p:nvPr/>
          </p:nvSpPr>
          <p:spPr bwMode="auto">
            <a:xfrm>
              <a:off x="3792" y="625"/>
              <a:ext cx="481" cy="191"/>
            </a:xfrm>
            <a:prstGeom prst="rightArrow">
              <a:avLst>
                <a:gd name="adj1" fmla="val 50000"/>
                <a:gd name="adj2" fmla="val 6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58373" name="Group 32"/>
          <p:cNvGrpSpPr>
            <a:grpSpLocks/>
          </p:cNvGrpSpPr>
          <p:nvPr/>
        </p:nvGrpSpPr>
        <p:grpSpPr bwMode="auto">
          <a:xfrm>
            <a:off x="1905000" y="4800600"/>
            <a:ext cx="4821238" cy="1951038"/>
            <a:chOff x="2016" y="2256"/>
            <a:chExt cx="4032" cy="1632"/>
          </a:xfrm>
        </p:grpSpPr>
        <p:grpSp>
          <p:nvGrpSpPr>
            <p:cNvPr id="58378" name="Group 33"/>
            <p:cNvGrpSpPr>
              <a:grpSpLocks/>
            </p:cNvGrpSpPr>
            <p:nvPr/>
          </p:nvGrpSpPr>
          <p:grpSpPr bwMode="auto">
            <a:xfrm>
              <a:off x="2016" y="2304"/>
              <a:ext cx="1728" cy="1584"/>
              <a:chOff x="432" y="2160"/>
              <a:chExt cx="1728" cy="1584"/>
            </a:xfrm>
          </p:grpSpPr>
          <p:sp>
            <p:nvSpPr>
              <p:cNvPr id="154658" name="Oval 34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288" cy="28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X</a:t>
                </a:r>
              </a:p>
            </p:txBody>
          </p:sp>
          <p:sp>
            <p:nvSpPr>
              <p:cNvPr id="154659" name="Oval 35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G</a:t>
                </a:r>
              </a:p>
            </p:txBody>
          </p:sp>
          <p:sp>
            <p:nvSpPr>
              <p:cNvPr id="154660" name="Oval 36"/>
              <p:cNvSpPr>
                <a:spLocks noChangeArrowheads="1"/>
              </p:cNvSpPr>
              <p:nvPr/>
            </p:nvSpPr>
            <p:spPr bwMode="auto">
              <a:xfrm>
                <a:off x="1056" y="249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P</a:t>
                </a:r>
              </a:p>
            </p:txBody>
          </p:sp>
          <p:cxnSp>
            <p:nvCxnSpPr>
              <p:cNvPr id="154661" name="AutoShape 37"/>
              <p:cNvCxnSpPr>
                <a:cxnSpLocks noChangeShapeType="1"/>
                <a:stCxn id="154660" idx="3"/>
                <a:endCxn id="154658" idx="7"/>
              </p:cNvCxnSpPr>
              <p:nvPr/>
            </p:nvCxnSpPr>
            <p:spPr bwMode="auto">
              <a:xfrm flipH="1">
                <a:off x="966" y="2741"/>
                <a:ext cx="134" cy="18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662" name="AutoShape 38"/>
              <p:cNvCxnSpPr>
                <a:cxnSpLocks noChangeShapeType="1"/>
                <a:stCxn id="154660" idx="7"/>
                <a:endCxn id="154659" idx="3"/>
              </p:cNvCxnSpPr>
              <p:nvPr/>
            </p:nvCxnSpPr>
            <p:spPr bwMode="auto">
              <a:xfrm flipV="1">
                <a:off x="1303" y="2405"/>
                <a:ext cx="131" cy="13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54663" name="AutoShape 39"/>
              <p:cNvSpPr>
                <a:spLocks noChangeArrowheads="1"/>
              </p:cNvSpPr>
              <p:nvPr/>
            </p:nvSpPr>
            <p:spPr bwMode="auto">
              <a:xfrm>
                <a:off x="1296" y="2927"/>
                <a:ext cx="384" cy="433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C</a:t>
                </a:r>
              </a:p>
            </p:txBody>
          </p:sp>
          <p:cxnSp>
            <p:nvCxnSpPr>
              <p:cNvPr id="154664" name="AutoShape 40"/>
              <p:cNvCxnSpPr>
                <a:cxnSpLocks noChangeShapeType="1"/>
                <a:stCxn id="154663" idx="0"/>
                <a:endCxn id="154660" idx="5"/>
              </p:cNvCxnSpPr>
              <p:nvPr/>
            </p:nvCxnSpPr>
            <p:spPr bwMode="auto">
              <a:xfrm flipH="1" flipV="1">
                <a:off x="1303" y="2741"/>
                <a:ext cx="186" cy="18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54665" name="AutoShape 41"/>
              <p:cNvSpPr>
                <a:spLocks noChangeArrowheads="1"/>
              </p:cNvSpPr>
              <p:nvPr/>
            </p:nvSpPr>
            <p:spPr bwMode="auto">
              <a:xfrm>
                <a:off x="960" y="3312"/>
                <a:ext cx="384" cy="432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B</a:t>
                </a:r>
              </a:p>
            </p:txBody>
          </p:sp>
          <p:sp>
            <p:nvSpPr>
              <p:cNvPr id="154666" name="AutoShape 42"/>
              <p:cNvSpPr>
                <a:spLocks noChangeArrowheads="1"/>
              </p:cNvSpPr>
              <p:nvPr/>
            </p:nvSpPr>
            <p:spPr bwMode="auto">
              <a:xfrm>
                <a:off x="1777" y="2591"/>
                <a:ext cx="386" cy="433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D</a:t>
                </a:r>
              </a:p>
            </p:txBody>
          </p:sp>
          <p:sp>
            <p:nvSpPr>
              <p:cNvPr id="154667" name="AutoShape 43"/>
              <p:cNvSpPr>
                <a:spLocks noChangeArrowheads="1"/>
              </p:cNvSpPr>
              <p:nvPr/>
            </p:nvSpPr>
            <p:spPr bwMode="auto">
              <a:xfrm>
                <a:off x="432" y="3312"/>
                <a:ext cx="384" cy="432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cs typeface="+mn-cs"/>
                  </a:rPr>
                  <a:t>A</a:t>
                </a:r>
              </a:p>
            </p:txBody>
          </p:sp>
          <p:cxnSp>
            <p:nvCxnSpPr>
              <p:cNvPr id="154668" name="AutoShape 44"/>
              <p:cNvCxnSpPr>
                <a:cxnSpLocks noChangeShapeType="1"/>
                <a:stCxn id="154659" idx="5"/>
                <a:endCxn id="154666" idx="0"/>
              </p:cNvCxnSpPr>
              <p:nvPr/>
            </p:nvCxnSpPr>
            <p:spPr bwMode="auto">
              <a:xfrm>
                <a:off x="1639" y="2405"/>
                <a:ext cx="329" cy="18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669" name="AutoShape 45"/>
              <p:cNvCxnSpPr>
                <a:cxnSpLocks noChangeShapeType="1"/>
                <a:stCxn id="154658" idx="3"/>
                <a:endCxn id="154667" idx="0"/>
              </p:cNvCxnSpPr>
              <p:nvPr/>
            </p:nvCxnSpPr>
            <p:spPr bwMode="auto">
              <a:xfrm flipH="1">
                <a:off x="625" y="3127"/>
                <a:ext cx="138" cy="18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670" name="AutoShape 46"/>
              <p:cNvCxnSpPr>
                <a:cxnSpLocks noChangeShapeType="1"/>
                <a:stCxn id="154658" idx="5"/>
                <a:endCxn id="154665" idx="0"/>
              </p:cNvCxnSpPr>
              <p:nvPr/>
            </p:nvCxnSpPr>
            <p:spPr bwMode="auto">
              <a:xfrm>
                <a:off x="966" y="3127"/>
                <a:ext cx="187" cy="18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4671" name="Oval 47"/>
            <p:cNvSpPr>
              <a:spLocks noChangeArrowheads="1"/>
            </p:cNvSpPr>
            <p:nvPr/>
          </p:nvSpPr>
          <p:spPr bwMode="auto">
            <a:xfrm flipH="1">
              <a:off x="5472" y="297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G</a:t>
              </a:r>
            </a:p>
          </p:txBody>
        </p:sp>
        <p:sp>
          <p:nvSpPr>
            <p:cNvPr id="154672" name="Oval 48"/>
            <p:cNvSpPr>
              <a:spLocks noChangeArrowheads="1"/>
            </p:cNvSpPr>
            <p:nvPr/>
          </p:nvSpPr>
          <p:spPr bwMode="auto">
            <a:xfrm flipH="1">
              <a:off x="4800" y="225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X</a:t>
              </a:r>
            </a:p>
          </p:txBody>
        </p:sp>
        <p:sp>
          <p:nvSpPr>
            <p:cNvPr id="154673" name="Oval 49"/>
            <p:cNvSpPr>
              <a:spLocks noChangeArrowheads="1"/>
            </p:cNvSpPr>
            <p:nvPr/>
          </p:nvSpPr>
          <p:spPr bwMode="auto">
            <a:xfrm flipH="1">
              <a:off x="513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P</a:t>
              </a:r>
            </a:p>
          </p:txBody>
        </p:sp>
        <p:cxnSp>
          <p:nvCxnSpPr>
            <p:cNvPr id="154674" name="AutoShape 50"/>
            <p:cNvCxnSpPr>
              <a:cxnSpLocks noChangeShapeType="1"/>
              <a:stCxn id="154673" idx="3"/>
              <a:endCxn id="154671" idx="7"/>
            </p:cNvCxnSpPr>
            <p:nvPr/>
          </p:nvCxnSpPr>
          <p:spPr bwMode="auto">
            <a:xfrm>
              <a:off x="5382" y="2838"/>
              <a:ext cx="134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75" name="AutoShape 51"/>
            <p:cNvCxnSpPr>
              <a:cxnSpLocks noChangeShapeType="1"/>
              <a:stCxn id="154673" idx="7"/>
              <a:endCxn id="154672" idx="3"/>
            </p:cNvCxnSpPr>
            <p:nvPr/>
          </p:nvCxnSpPr>
          <p:spPr bwMode="auto">
            <a:xfrm flipH="1" flipV="1">
              <a:off x="5046" y="2502"/>
              <a:ext cx="133" cy="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76" name="AutoShape 52"/>
            <p:cNvSpPr>
              <a:spLocks noChangeArrowheads="1"/>
            </p:cNvSpPr>
            <p:nvPr/>
          </p:nvSpPr>
          <p:spPr bwMode="auto">
            <a:xfrm flipH="1">
              <a:off x="4800" y="3024"/>
              <a:ext cx="384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B</a:t>
              </a:r>
            </a:p>
          </p:txBody>
        </p:sp>
        <p:cxnSp>
          <p:nvCxnSpPr>
            <p:cNvPr id="154677" name="AutoShape 53"/>
            <p:cNvCxnSpPr>
              <a:cxnSpLocks noChangeShapeType="1"/>
              <a:stCxn id="154676" idx="0"/>
              <a:endCxn id="154673" idx="5"/>
            </p:cNvCxnSpPr>
            <p:nvPr/>
          </p:nvCxnSpPr>
          <p:spPr bwMode="auto">
            <a:xfrm flipV="1">
              <a:off x="4993" y="2838"/>
              <a:ext cx="186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78" name="AutoShape 54"/>
            <p:cNvSpPr>
              <a:spLocks noChangeArrowheads="1"/>
            </p:cNvSpPr>
            <p:nvPr/>
          </p:nvSpPr>
          <p:spPr bwMode="auto">
            <a:xfrm flipH="1">
              <a:off x="5136" y="3409"/>
              <a:ext cx="384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C</a:t>
              </a:r>
            </a:p>
          </p:txBody>
        </p:sp>
        <p:sp>
          <p:nvSpPr>
            <p:cNvPr id="154679" name="AutoShape 55"/>
            <p:cNvSpPr>
              <a:spLocks noChangeArrowheads="1"/>
            </p:cNvSpPr>
            <p:nvPr/>
          </p:nvSpPr>
          <p:spPr bwMode="auto">
            <a:xfrm flipH="1">
              <a:off x="4319" y="2688"/>
              <a:ext cx="385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A</a:t>
              </a:r>
            </a:p>
          </p:txBody>
        </p:sp>
        <p:sp>
          <p:nvSpPr>
            <p:cNvPr id="154680" name="AutoShape 56"/>
            <p:cNvSpPr>
              <a:spLocks noChangeArrowheads="1"/>
            </p:cNvSpPr>
            <p:nvPr/>
          </p:nvSpPr>
          <p:spPr bwMode="auto">
            <a:xfrm flipH="1">
              <a:off x="5664" y="3409"/>
              <a:ext cx="384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D</a:t>
              </a:r>
            </a:p>
          </p:txBody>
        </p:sp>
        <p:cxnSp>
          <p:nvCxnSpPr>
            <p:cNvPr id="154681" name="AutoShape 57"/>
            <p:cNvCxnSpPr>
              <a:cxnSpLocks noChangeShapeType="1"/>
              <a:stCxn id="154672" idx="5"/>
              <a:endCxn id="154679" idx="0"/>
            </p:cNvCxnSpPr>
            <p:nvPr/>
          </p:nvCxnSpPr>
          <p:spPr bwMode="auto">
            <a:xfrm flipH="1">
              <a:off x="4512" y="2502"/>
              <a:ext cx="331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82" name="AutoShape 58"/>
            <p:cNvCxnSpPr>
              <a:cxnSpLocks noChangeShapeType="1"/>
              <a:stCxn id="154671" idx="3"/>
              <a:endCxn id="154680" idx="0"/>
            </p:cNvCxnSpPr>
            <p:nvPr/>
          </p:nvCxnSpPr>
          <p:spPr bwMode="auto">
            <a:xfrm>
              <a:off x="5717" y="3221"/>
              <a:ext cx="138" cy="1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4683" name="AutoShape 59"/>
            <p:cNvCxnSpPr>
              <a:cxnSpLocks noChangeShapeType="1"/>
              <a:stCxn id="154671" idx="5"/>
              <a:endCxn id="154678" idx="0"/>
            </p:cNvCxnSpPr>
            <p:nvPr/>
          </p:nvCxnSpPr>
          <p:spPr bwMode="auto">
            <a:xfrm flipH="1">
              <a:off x="5328" y="3221"/>
              <a:ext cx="186" cy="1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4684" name="AutoShape 60"/>
            <p:cNvSpPr>
              <a:spLocks noChangeArrowheads="1"/>
            </p:cNvSpPr>
            <p:nvPr/>
          </p:nvSpPr>
          <p:spPr bwMode="auto">
            <a:xfrm>
              <a:off x="3888" y="2399"/>
              <a:ext cx="481" cy="193"/>
            </a:xfrm>
            <a:prstGeom prst="rightArrow">
              <a:avLst>
                <a:gd name="adj1" fmla="val 50000"/>
                <a:gd name="adj2" fmla="val 6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54685" name="Line 61"/>
          <p:cNvSpPr>
            <a:spLocks noChangeShapeType="1"/>
          </p:cNvSpPr>
          <p:nvPr/>
        </p:nvSpPr>
        <p:spPr bwMode="auto">
          <a:xfrm flipV="1">
            <a:off x="3124200" y="2514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4686" name="Line 62"/>
          <p:cNvSpPr>
            <a:spLocks noChangeShapeType="1"/>
          </p:cNvSpPr>
          <p:nvPr/>
        </p:nvSpPr>
        <p:spPr bwMode="auto">
          <a:xfrm flipV="1">
            <a:off x="5562600" y="2514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4687" name="Line 63"/>
          <p:cNvSpPr>
            <a:spLocks noChangeShapeType="1"/>
          </p:cNvSpPr>
          <p:nvPr/>
        </p:nvSpPr>
        <p:spPr bwMode="auto">
          <a:xfrm flipV="1">
            <a:off x="3243263" y="470058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4688" name="Line 64"/>
          <p:cNvSpPr>
            <a:spLocks noChangeShapeType="1"/>
          </p:cNvSpPr>
          <p:nvPr/>
        </p:nvSpPr>
        <p:spPr bwMode="auto">
          <a:xfrm flipV="1">
            <a:off x="5410200" y="4648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10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 Properties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>
                <a:latin typeface="Century Gothic"/>
                <a:cs typeface="Century Gothic"/>
              </a:rPr>
              <a:t>Fact 1. Splaying at a node x of depth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d</a:t>
            </a:r>
            <a:r>
              <a:rPr lang="en-US" sz="2400" dirty="0">
                <a:latin typeface="Century Gothic"/>
                <a:cs typeface="Century Gothic"/>
              </a:rPr>
              <a:t> takes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O(d)</a:t>
            </a:r>
            <a:r>
              <a:rPr lang="en-US" sz="2400" dirty="0">
                <a:latin typeface="Century Gothic"/>
                <a:cs typeface="Century Gothic"/>
              </a:rPr>
              <a:t> time.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Fact </a:t>
            </a:r>
            <a:r>
              <a:rPr lang="en-US" sz="2400" dirty="0">
                <a:latin typeface="Century Gothic"/>
                <a:cs typeface="Century Gothic"/>
              </a:rPr>
              <a:t>2. Splaying moves x to the root, and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roughly halves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the depth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of every node on the access path.</a:t>
            </a:r>
          </a:p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11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Splaying at a node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2" name="Picture 1" descr="splay4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0" y="990600"/>
            <a:ext cx="97345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01812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12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Splaying at a node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3" name="Picture 2" descr="splayExampl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914400" y="914400"/>
            <a:ext cx="769620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0252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13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 Operations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access 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i,t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: </a:t>
            </a:r>
            <a:r>
              <a:rPr lang="en-US" sz="2400" dirty="0" smtClean="0">
                <a:latin typeface="Century Gothic"/>
                <a:cs typeface="Century Gothic"/>
              </a:rPr>
              <a:t>return </a:t>
            </a:r>
            <a:r>
              <a:rPr lang="en-US" sz="2400" dirty="0">
                <a:latin typeface="Century Gothic"/>
                <a:cs typeface="Century Gothic"/>
              </a:rPr>
              <a:t>a pointer to </a:t>
            </a:r>
            <a:r>
              <a:rPr lang="en-US" sz="2400" dirty="0" smtClean="0">
                <a:latin typeface="Century Gothic"/>
                <a:cs typeface="Century Gothic"/>
              </a:rPr>
              <a:t>location of item </a:t>
            </a:r>
            <a:r>
              <a:rPr lang="en-US" sz="2400" dirty="0" err="1" smtClean="0">
                <a:latin typeface="Century Gothic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cs typeface="Century Gothic"/>
              </a:rPr>
              <a:t>, if present; otherwise</a:t>
            </a:r>
            <a:r>
              <a:rPr lang="en-US" sz="2400" dirty="0">
                <a:latin typeface="Century Gothic"/>
                <a:cs typeface="Century Gothic"/>
              </a:rPr>
              <a:t>, return a null </a:t>
            </a:r>
            <a:r>
              <a:rPr lang="en-US" sz="2400" dirty="0" smtClean="0">
                <a:latin typeface="Century Gothic"/>
                <a:cs typeface="Century Gothic"/>
              </a:rPr>
              <a:t>pointer.</a:t>
            </a: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insert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i,t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: insert item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 in tree t, </a:t>
            </a:r>
            <a:r>
              <a:rPr lang="en-US" sz="2400" dirty="0" smtClean="0">
                <a:latin typeface="Century Gothic"/>
                <a:cs typeface="Century Gothic"/>
              </a:rPr>
              <a:t>if it </a:t>
            </a:r>
            <a:r>
              <a:rPr lang="en-US" sz="2400" dirty="0">
                <a:latin typeface="Century Gothic"/>
                <a:cs typeface="Century Gothic"/>
              </a:rPr>
              <a:t>is not there already</a:t>
            </a:r>
            <a:r>
              <a:rPr lang="en-US" sz="2400" dirty="0" smtClean="0">
                <a:latin typeface="Century Gothic"/>
                <a:cs typeface="Century Gothic"/>
              </a:rPr>
              <a:t>;</a:t>
            </a: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delete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i,t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: delete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 from t, assuming it is present.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join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(t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, 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: combines </a:t>
            </a:r>
            <a:r>
              <a:rPr lang="en-US" sz="2400" dirty="0" smtClean="0">
                <a:latin typeface="Century Gothic"/>
                <a:cs typeface="Century Gothic"/>
              </a:rPr>
              <a:t>t</a:t>
            </a:r>
            <a:r>
              <a:rPr lang="en-US" sz="2400" baseline="-25000" dirty="0" smtClean="0">
                <a:latin typeface="Century Gothic"/>
                <a:cs typeface="Century Gothic"/>
              </a:rPr>
              <a:t>1</a:t>
            </a:r>
            <a:r>
              <a:rPr lang="en-US" sz="2400" dirty="0" smtClean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and t</a:t>
            </a:r>
            <a:r>
              <a:rPr lang="en-US" sz="2400" baseline="-25000" dirty="0">
                <a:latin typeface="Century Gothic"/>
                <a:cs typeface="Century Gothic"/>
              </a:rPr>
              <a:t>2</a:t>
            </a: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into a </a:t>
            </a:r>
            <a:r>
              <a:rPr lang="en-US" sz="2400" dirty="0">
                <a:latin typeface="Century Gothic"/>
                <a:cs typeface="Century Gothic"/>
              </a:rPr>
              <a:t>single tree and returns the resulting </a:t>
            </a:r>
            <a:r>
              <a:rPr lang="en-US" sz="2400" dirty="0" smtClean="0">
                <a:latin typeface="Century Gothic"/>
                <a:cs typeface="Century Gothic"/>
              </a:rPr>
              <a:t>tree; assume all </a:t>
            </a:r>
            <a:r>
              <a:rPr lang="en-US" sz="2400" dirty="0">
                <a:latin typeface="Century Gothic"/>
                <a:cs typeface="Century Gothic"/>
              </a:rPr>
              <a:t>items in t</a:t>
            </a:r>
            <a:r>
              <a:rPr lang="en-US" sz="2400" baseline="-25000" dirty="0">
                <a:latin typeface="Century Gothic"/>
                <a:cs typeface="Century Gothic"/>
              </a:rPr>
              <a:t>1</a:t>
            </a: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smaller than t</a:t>
            </a:r>
            <a:r>
              <a:rPr lang="en-US" sz="2400" baseline="-25000" dirty="0" smtClean="0">
                <a:latin typeface="Century Gothic"/>
                <a:cs typeface="Century Gothic"/>
              </a:rPr>
              <a:t>2</a:t>
            </a: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split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i,t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: </a:t>
            </a:r>
            <a:r>
              <a:rPr lang="en-US" sz="2400" dirty="0" smtClean="0">
                <a:latin typeface="Century Gothic"/>
                <a:cs typeface="Century Gothic"/>
              </a:rPr>
              <a:t>return </a:t>
            </a:r>
            <a:r>
              <a:rPr lang="en-US" sz="2400" dirty="0">
                <a:latin typeface="Century Gothic"/>
                <a:cs typeface="Century Gothic"/>
              </a:rPr>
              <a:t>two trees: t</a:t>
            </a:r>
            <a:r>
              <a:rPr lang="en-US" sz="2400" baseline="-25000" dirty="0">
                <a:latin typeface="Century Gothic"/>
                <a:cs typeface="Century Gothic"/>
              </a:rPr>
              <a:t>1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latin typeface="Century Gothic"/>
                <a:cs typeface="Century Gothic"/>
              </a:rPr>
              <a:t>containing all items </a:t>
            </a:r>
            <a:r>
              <a:rPr lang="en-US" sz="2400" dirty="0">
                <a:latin typeface="Century Gothic"/>
                <a:cs typeface="Century Gothic"/>
              </a:rPr>
              <a:t>less than or equal to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, and t</a:t>
            </a:r>
            <a:r>
              <a:rPr lang="en-US" sz="2400" baseline="-25000" dirty="0">
                <a:latin typeface="Century Gothic"/>
                <a:cs typeface="Century Gothic"/>
              </a:rPr>
              <a:t>2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latin typeface="Century Gothic"/>
                <a:cs typeface="Century Gothic"/>
              </a:rPr>
              <a:t>containing items greater than </a:t>
            </a:r>
            <a:r>
              <a:rPr lang="en-US" sz="2400" dirty="0" err="1" smtClean="0">
                <a:latin typeface="Century Gothic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cs typeface="Century Gothic"/>
              </a:rPr>
              <a:t>. This </a:t>
            </a:r>
            <a:r>
              <a:rPr lang="en-US" sz="2400" dirty="0">
                <a:latin typeface="Century Gothic"/>
                <a:cs typeface="Century Gothic"/>
              </a:rPr>
              <a:t>operation destroys t.</a:t>
            </a:r>
          </a:p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4653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14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Tree: Implementing the Operations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access 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i,t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endParaRPr lang="en-US" sz="2400" dirty="0">
              <a:latin typeface="Century Gothic"/>
              <a:cs typeface="Century Gothic"/>
            </a:endParaRPr>
          </a:p>
          <a:p>
            <a:endParaRPr lang="en-US" sz="2400" dirty="0" smtClean="0">
              <a:latin typeface="Century Gothic"/>
              <a:ea typeface="ＭＳ Ｐゴシック" charset="0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S</a:t>
            </a:r>
            <a:r>
              <a:rPr lang="en-US" sz="2400" dirty="0" smtClean="0">
                <a:latin typeface="Century Gothic"/>
                <a:cs typeface="Century Gothic"/>
              </a:rPr>
              <a:t>earch </a:t>
            </a:r>
            <a:r>
              <a:rPr lang="en-US" sz="2400" dirty="0">
                <a:latin typeface="Century Gothic"/>
                <a:cs typeface="Century Gothic"/>
              </a:rPr>
              <a:t>down from the root, looking for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.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If </a:t>
            </a:r>
            <a:r>
              <a:rPr lang="en-US" sz="2400" dirty="0">
                <a:latin typeface="Century Gothic"/>
                <a:cs typeface="Century Gothic"/>
              </a:rPr>
              <a:t>search reaches a node x containing </a:t>
            </a:r>
            <a:r>
              <a:rPr lang="en-US" sz="2400" dirty="0" err="1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we splay at x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and return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the pointer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to x.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If </a:t>
            </a:r>
            <a:r>
              <a:rPr lang="en-US" sz="2400" dirty="0">
                <a:latin typeface="Century Gothic"/>
                <a:cs typeface="Century Gothic"/>
              </a:rPr>
              <a:t>search reaches a null node, we </a:t>
            </a:r>
            <a:r>
              <a:rPr lang="en-US" sz="2400" dirty="0" smtClean="0">
                <a:latin typeface="Century Gothic"/>
                <a:cs typeface="Century Gothic"/>
              </a:rPr>
              <a:t>splay the </a:t>
            </a:r>
            <a:r>
              <a:rPr lang="en-US" sz="2400" dirty="0">
                <a:latin typeface="Century Gothic"/>
                <a:cs typeface="Century Gothic"/>
              </a:rPr>
              <a:t>last non-null node</a:t>
            </a:r>
            <a:r>
              <a:rPr lang="en-US" sz="2400" dirty="0" smtClean="0">
                <a:latin typeface="Century Gothic"/>
                <a:cs typeface="Century Gothic"/>
              </a:rPr>
              <a:t>, </a:t>
            </a:r>
            <a:r>
              <a:rPr lang="en-US" sz="2400" dirty="0">
                <a:latin typeface="Century Gothic"/>
                <a:cs typeface="Century Gothic"/>
              </a:rPr>
              <a:t>and return a null pointer.</a:t>
            </a:r>
          </a:p>
          <a:p>
            <a:endParaRPr lang="en-US" sz="2400" dirty="0"/>
          </a:p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8010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15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Illustration:  Access</a:t>
            </a:r>
            <a:r>
              <a:rPr lang="en-US" dirty="0" smtClean="0">
                <a:latin typeface="Century Gothic"/>
                <a:cs typeface="Century Gothic"/>
              </a:rPr>
              <a:t> 80</a:t>
            </a:r>
            <a:endParaRPr lang="en-US" dirty="0" smtClean="0">
              <a:latin typeface="Century Gothic"/>
              <a:cs typeface="Century Gothic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3" name="Picture 2" descr="splay6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57200" y="838200"/>
            <a:ext cx="81534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52265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16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Insert and Delete in Splay Trees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Insert, delete easily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implemented using join and split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Century Gothic"/>
                <a:cs typeface="Century Gothic"/>
              </a:rPr>
              <a:t>b</a:t>
            </a:r>
            <a:r>
              <a:rPr lang="en-US" sz="2000" dirty="0" smtClean="0">
                <a:solidFill>
                  <a:schemeClr val="tx1"/>
                </a:solidFill>
                <a:latin typeface="Century Gothic"/>
                <a:cs typeface="Century Gothic"/>
              </a:rPr>
              <a:t>ecause access(x) moves x to the root.</a:t>
            </a:r>
            <a:endParaRPr lang="en-US" sz="20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For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join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(t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, 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latin typeface="Century Gothic"/>
                <a:cs typeface="Century Gothic"/>
              </a:rPr>
              <a:t>first </a:t>
            </a:r>
            <a:r>
              <a:rPr lang="en-US" sz="2400" dirty="0">
                <a:latin typeface="Century Gothic"/>
                <a:cs typeface="Century Gothic"/>
              </a:rPr>
              <a:t>access the largest item in t</a:t>
            </a:r>
            <a:r>
              <a:rPr lang="en-US" sz="2400" baseline="-25000" dirty="0">
                <a:latin typeface="Century Gothic"/>
                <a:cs typeface="Century Gothic"/>
              </a:rPr>
              <a:t>1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pPr lvl="1"/>
            <a:r>
              <a:rPr lang="en-US" sz="2000" dirty="0">
                <a:solidFill>
                  <a:srgbClr val="0033CC"/>
                </a:solidFill>
                <a:latin typeface="Century Gothic"/>
                <a:cs typeface="Century Gothic"/>
              </a:rPr>
              <a:t>Suppose this item is</a:t>
            </a:r>
            <a:r>
              <a:rPr lang="en-US" sz="2000" dirty="0" smtClean="0">
                <a:solidFill>
                  <a:srgbClr val="0033CC"/>
                </a:solidFill>
                <a:latin typeface="Century Gothic"/>
                <a:cs typeface="Century Gothic"/>
              </a:rPr>
              <a:t> </a:t>
            </a:r>
            <a:r>
              <a:rPr lang="en-US" sz="2000" dirty="0" err="1">
                <a:solidFill>
                  <a:srgbClr val="0033CC"/>
                </a:solidFill>
                <a:latin typeface="Century Gothic"/>
                <a:cs typeface="Century Gothic"/>
              </a:rPr>
              <a:t>x</a:t>
            </a:r>
            <a:r>
              <a:rPr lang="en-US" sz="2000" dirty="0" smtClean="0">
                <a:solidFill>
                  <a:srgbClr val="0033CC"/>
                </a:solidFill>
                <a:latin typeface="Century Gothic"/>
                <a:cs typeface="Century Gothic"/>
              </a:rPr>
              <a:t>. </a:t>
            </a:r>
            <a:r>
              <a:rPr lang="en-US" sz="2000" dirty="0">
                <a:solidFill>
                  <a:srgbClr val="0033CC"/>
                </a:solidFill>
                <a:latin typeface="Century Gothic"/>
                <a:cs typeface="Century Gothic"/>
              </a:rPr>
              <a:t>After the access,</a:t>
            </a:r>
            <a:r>
              <a:rPr lang="en-US" sz="2000" dirty="0" smtClean="0">
                <a:solidFill>
                  <a:srgbClr val="0033CC"/>
                </a:solidFill>
                <a:latin typeface="Century Gothic"/>
                <a:cs typeface="Century Gothic"/>
              </a:rPr>
              <a:t> </a:t>
            </a:r>
            <a:r>
              <a:rPr lang="en-US" sz="2000" dirty="0" err="1">
                <a:solidFill>
                  <a:srgbClr val="0033CC"/>
                </a:solidFill>
                <a:latin typeface="Century Gothic"/>
                <a:cs typeface="Century Gothic"/>
              </a:rPr>
              <a:t>x</a:t>
            </a:r>
            <a:r>
              <a:rPr lang="en-US" sz="2000" dirty="0" smtClean="0">
                <a:solidFill>
                  <a:srgbClr val="0033CC"/>
                </a:solidFill>
                <a:latin typeface="Century Gothic"/>
                <a:cs typeface="Century Gothic"/>
              </a:rPr>
              <a:t> </a:t>
            </a:r>
            <a:r>
              <a:rPr lang="en-US" sz="2000" dirty="0">
                <a:solidFill>
                  <a:srgbClr val="0033CC"/>
                </a:solidFill>
                <a:latin typeface="Century Gothic"/>
                <a:cs typeface="Century Gothic"/>
              </a:rPr>
              <a:t>is at the root of t</a:t>
            </a:r>
            <a:r>
              <a:rPr lang="en-US" sz="2000" baseline="-25000" dirty="0">
                <a:solidFill>
                  <a:srgbClr val="0033CC"/>
                </a:solidFill>
                <a:latin typeface="Century Gothic"/>
                <a:cs typeface="Century Gothic"/>
              </a:rPr>
              <a:t>1</a:t>
            </a:r>
            <a:r>
              <a:rPr lang="en-US" sz="2000" dirty="0" smtClean="0">
                <a:solidFill>
                  <a:srgbClr val="0033CC"/>
                </a:solidFill>
                <a:latin typeface="Century Gothic"/>
                <a:cs typeface="Century Gothic"/>
              </a:rPr>
              <a:t>.</a:t>
            </a:r>
            <a:endParaRPr lang="en-US" sz="2000" dirty="0">
              <a:solidFill>
                <a:srgbClr val="0033CC"/>
              </a:solidFill>
              <a:latin typeface="Century Gothic"/>
              <a:cs typeface="Century Gothic"/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Because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entury Gothic"/>
                <a:cs typeface="Century Gothic"/>
              </a:rPr>
              <a:t>x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is the largest item in t</a:t>
            </a:r>
            <a:r>
              <a:rPr lang="en-US" sz="20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, the root must have a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null right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child. Simply make t</a:t>
            </a:r>
            <a:r>
              <a:rPr lang="en-US" sz="20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's root to be the right child of t</a:t>
            </a:r>
            <a:r>
              <a:rPr lang="en-US" sz="20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.</a:t>
            </a:r>
          </a:p>
          <a:p>
            <a:pPr lvl="1"/>
            <a:r>
              <a:rPr lang="en-US" sz="2000" dirty="0">
                <a:latin typeface="Century Gothic"/>
                <a:cs typeface="Century Gothic"/>
              </a:rPr>
              <a:t> </a:t>
            </a:r>
            <a:r>
              <a:rPr lang="en-US" sz="2000" dirty="0" smtClean="0">
                <a:latin typeface="Century Gothic"/>
                <a:cs typeface="Century Gothic"/>
              </a:rPr>
              <a:t>Return </a:t>
            </a:r>
            <a:r>
              <a:rPr lang="en-US" sz="2000" dirty="0">
                <a:latin typeface="Century Gothic"/>
                <a:cs typeface="Century Gothic"/>
              </a:rPr>
              <a:t>the resulting tree.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For </a:t>
            </a:r>
            <a:r>
              <a:rPr lang="en-US" sz="2400" dirty="0" err="1" smtClean="0">
                <a:solidFill>
                  <a:srgbClr val="FF0000"/>
                </a:solidFill>
                <a:latin typeface="Century Gothic"/>
                <a:cs typeface="Century Gothic"/>
              </a:rPr>
              <a:t>split</a:t>
            </a:r>
            <a:r>
              <a:rPr lang="en-US" sz="2400" dirty="0" err="1" smtClean="0">
                <a:solidFill>
                  <a:srgbClr val="FF0000"/>
                </a:solidFill>
                <a:latin typeface="Century Gothic"/>
                <a:cs typeface="Century Gothic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x</a:t>
            </a:r>
            <a:r>
              <a:rPr lang="en-US" sz="2400" dirty="0" err="1" smtClean="0">
                <a:solidFill>
                  <a:srgbClr val="FF0000"/>
                </a:solidFill>
                <a:latin typeface="Century Gothic"/>
                <a:cs typeface="Century Gothic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)</a:t>
            </a:r>
            <a:r>
              <a:rPr lang="en-US" sz="2400" dirty="0">
                <a:latin typeface="Century Gothic"/>
                <a:cs typeface="Century Gothic"/>
              </a:rPr>
              <a:t>, first </a:t>
            </a:r>
            <a:r>
              <a:rPr lang="en-US" sz="2400" dirty="0" smtClean="0">
                <a:latin typeface="Century Gothic"/>
                <a:cs typeface="Century Gothic"/>
              </a:rPr>
              <a:t>do </a:t>
            </a:r>
            <a:r>
              <a:rPr lang="en-US" sz="2400" dirty="0" err="1" smtClean="0">
                <a:latin typeface="Century Gothic"/>
                <a:cs typeface="Century Gothic"/>
              </a:rPr>
              <a:t>access</a:t>
            </a:r>
            <a:r>
              <a:rPr lang="en-US" sz="2400" dirty="0" err="1" smtClean="0">
                <a:latin typeface="Century Gothic"/>
                <a:cs typeface="Century Gothic"/>
              </a:rPr>
              <a:t>(x,</a:t>
            </a:r>
            <a:r>
              <a:rPr lang="en-US" sz="2400" dirty="0" err="1">
                <a:latin typeface="Century Gothic"/>
                <a:cs typeface="Century Gothic"/>
              </a:rPr>
              <a:t>t</a:t>
            </a:r>
            <a:r>
              <a:rPr lang="en-US" sz="2400" dirty="0">
                <a:latin typeface="Century Gothic"/>
                <a:cs typeface="Century Gothic"/>
              </a:rPr>
              <a:t>).</a:t>
            </a:r>
          </a:p>
          <a:p>
            <a:pPr lvl="1"/>
            <a:r>
              <a:rPr lang="en-US" sz="2000" dirty="0" smtClean="0">
                <a:latin typeface="Century Gothic"/>
                <a:cs typeface="Century Gothic"/>
              </a:rPr>
              <a:t>If </a:t>
            </a:r>
            <a:r>
              <a:rPr lang="en-US" sz="2000" dirty="0">
                <a:latin typeface="Century Gothic"/>
                <a:cs typeface="Century Gothic"/>
              </a:rPr>
              <a:t>root </a:t>
            </a:r>
            <a:r>
              <a:rPr lang="en-US" sz="2000" dirty="0" smtClean="0">
                <a:latin typeface="Century Gothic"/>
                <a:cs typeface="Century Gothic"/>
              </a:rPr>
              <a:t>&gt;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 err="1" smtClean="0">
                <a:latin typeface="Century Gothic"/>
                <a:cs typeface="Century Gothic"/>
              </a:rPr>
              <a:t>x</a:t>
            </a:r>
            <a:r>
              <a:rPr lang="en-US" sz="2000" dirty="0" smtClean="0">
                <a:latin typeface="Century Gothic"/>
                <a:cs typeface="Century Gothic"/>
              </a:rPr>
              <a:t>, </a:t>
            </a:r>
            <a:r>
              <a:rPr lang="en-US" sz="2000" dirty="0">
                <a:latin typeface="Century Gothic"/>
                <a:cs typeface="Century Gothic"/>
              </a:rPr>
              <a:t>then break the </a:t>
            </a:r>
            <a:r>
              <a:rPr lang="en-US" sz="2000" dirty="0" smtClean="0">
                <a:latin typeface="Century Gothic"/>
                <a:cs typeface="Century Gothic"/>
              </a:rPr>
              <a:t>left child </a:t>
            </a:r>
            <a:r>
              <a:rPr lang="en-US" sz="2000" dirty="0">
                <a:latin typeface="Century Gothic"/>
                <a:cs typeface="Century Gothic"/>
              </a:rPr>
              <a:t>link from the root, and return the two </a:t>
            </a:r>
            <a:r>
              <a:rPr lang="en-US" sz="2000" dirty="0" err="1">
                <a:latin typeface="Century Gothic"/>
                <a:cs typeface="Century Gothic"/>
              </a:rPr>
              <a:t>subtrees</a:t>
            </a:r>
            <a:r>
              <a:rPr lang="en-US" sz="2000" dirty="0">
                <a:latin typeface="Century Gothic"/>
                <a:cs typeface="Century Gothic"/>
              </a:rPr>
              <a:t>.</a:t>
            </a:r>
          </a:p>
          <a:p>
            <a:pPr lvl="1"/>
            <a:r>
              <a:rPr lang="en-US" sz="2000" dirty="0" smtClean="0">
                <a:latin typeface="Century Gothic"/>
                <a:cs typeface="Century Gothic"/>
              </a:rPr>
              <a:t>Otherwise</a:t>
            </a:r>
            <a:r>
              <a:rPr lang="en-US" sz="2000" dirty="0">
                <a:latin typeface="Century Gothic"/>
                <a:cs typeface="Century Gothic"/>
              </a:rPr>
              <a:t>, break the right child link from the root, </a:t>
            </a:r>
            <a:r>
              <a:rPr lang="en-US" sz="2000" dirty="0" smtClean="0">
                <a:latin typeface="Century Gothic"/>
                <a:cs typeface="Century Gothic"/>
              </a:rPr>
              <a:t>and return the two </a:t>
            </a:r>
            <a:r>
              <a:rPr lang="en-US" sz="2000" dirty="0" err="1" smtClean="0">
                <a:latin typeface="Century Gothic"/>
                <a:cs typeface="Century Gothic"/>
              </a:rPr>
              <a:t>subtrees</a:t>
            </a:r>
            <a:r>
              <a:rPr lang="en-US" sz="2000" dirty="0" smtClean="0">
                <a:latin typeface="Century Gothic"/>
                <a:cs typeface="Century Gothic"/>
              </a:rPr>
              <a:t>.</a:t>
            </a:r>
            <a:endParaRPr lang="en-US" sz="2000" dirty="0">
              <a:latin typeface="Century Gothic"/>
              <a:cs typeface="Century Gothic"/>
            </a:endParaRPr>
          </a:p>
          <a:p>
            <a:r>
              <a:rPr lang="en-US" sz="2000" dirty="0" smtClean="0">
                <a:latin typeface="Century Gothic"/>
                <a:cs typeface="Century Gothic"/>
              </a:rPr>
              <a:t>In all cases, special care if one of </a:t>
            </a:r>
            <a:r>
              <a:rPr lang="en-US" sz="2000" dirty="0" err="1" smtClean="0">
                <a:latin typeface="Century Gothic"/>
                <a:cs typeface="Century Gothic"/>
              </a:rPr>
              <a:t>subtrees</a:t>
            </a:r>
            <a:r>
              <a:rPr lang="en-US" sz="2000" dirty="0" smtClean="0">
                <a:latin typeface="Century Gothic"/>
                <a:cs typeface="Century Gothic"/>
              </a:rPr>
              <a:t> is empty.</a:t>
            </a:r>
            <a:endParaRPr lang="en-US"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01447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17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Insert in Splay Trees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To </a:t>
            </a:r>
            <a:r>
              <a:rPr lang="en-US" sz="2400" dirty="0">
                <a:latin typeface="Century Gothic"/>
                <a:cs typeface="Century Gothic"/>
              </a:rPr>
              <a:t>do </a:t>
            </a:r>
            <a:r>
              <a:rPr lang="en-US" sz="2400" dirty="0" err="1">
                <a:latin typeface="Century Gothic"/>
                <a:cs typeface="Century Gothic"/>
              </a:rPr>
              <a:t>insert</a:t>
            </a:r>
            <a:r>
              <a:rPr lang="en-US" sz="2400" dirty="0" err="1" smtClean="0">
                <a:latin typeface="Century Gothic"/>
                <a:cs typeface="Century Gothic"/>
              </a:rPr>
              <a:t>(</a:t>
            </a:r>
            <a:r>
              <a:rPr lang="en-US" sz="2400" dirty="0" err="1">
                <a:latin typeface="Century Gothic"/>
                <a:cs typeface="Century Gothic"/>
              </a:rPr>
              <a:t>x</a:t>
            </a:r>
            <a:r>
              <a:rPr lang="en-US" sz="2400" dirty="0" err="1" smtClean="0">
                <a:latin typeface="Century Gothic"/>
                <a:cs typeface="Century Gothic"/>
              </a:rPr>
              <a:t>,</a:t>
            </a:r>
            <a:r>
              <a:rPr lang="en-US" sz="2400" dirty="0" err="1">
                <a:latin typeface="Century Gothic"/>
                <a:cs typeface="Century Gothic"/>
              </a:rPr>
              <a:t>t</a:t>
            </a:r>
            <a:r>
              <a:rPr lang="en-US" sz="2400" dirty="0">
                <a:latin typeface="Century Gothic"/>
                <a:cs typeface="Century Gothic"/>
              </a:rPr>
              <a:t>), perform </a:t>
            </a:r>
            <a:r>
              <a:rPr lang="en-US" sz="2400" dirty="0" err="1">
                <a:latin typeface="Century Gothic"/>
                <a:cs typeface="Century Gothic"/>
              </a:rPr>
              <a:t>split</a:t>
            </a:r>
            <a:r>
              <a:rPr lang="en-US" sz="2400" dirty="0" err="1" smtClean="0">
                <a:latin typeface="Century Gothic"/>
                <a:cs typeface="Century Gothic"/>
              </a:rPr>
              <a:t>(x,</a:t>
            </a:r>
            <a:r>
              <a:rPr lang="en-US" sz="2400" dirty="0" err="1">
                <a:latin typeface="Century Gothic"/>
                <a:cs typeface="Century Gothic"/>
              </a:rPr>
              <a:t>t</a:t>
            </a:r>
            <a:r>
              <a:rPr lang="en-US" sz="2400" dirty="0">
                <a:latin typeface="Century Gothic"/>
                <a:cs typeface="Century Gothic"/>
              </a:rPr>
              <a:t>).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Replace </a:t>
            </a:r>
            <a:r>
              <a:rPr lang="en-US" sz="2400" dirty="0">
                <a:latin typeface="Century Gothic"/>
                <a:cs typeface="Century Gothic"/>
              </a:rPr>
              <a:t>t with a new </a:t>
            </a:r>
            <a:r>
              <a:rPr lang="en-US" sz="2400" dirty="0" smtClean="0">
                <a:latin typeface="Century Gothic"/>
                <a:cs typeface="Century Gothic"/>
              </a:rPr>
              <a:t>tree consisting </a:t>
            </a:r>
            <a:r>
              <a:rPr lang="en-US" sz="2400" dirty="0">
                <a:latin typeface="Century Gothic"/>
                <a:cs typeface="Century Gothic"/>
              </a:rPr>
              <a:t>of a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new root node containing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entury Gothic"/>
                <a:cs typeface="Century Gothic"/>
              </a:rPr>
              <a:t>x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whose left and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right </a:t>
            </a:r>
            <a:r>
              <a:rPr lang="en-US" sz="2400" dirty="0" err="1" smtClean="0">
                <a:solidFill>
                  <a:srgbClr val="FF0000"/>
                </a:solidFill>
                <a:latin typeface="Century Gothic"/>
                <a:cs typeface="Century Gothic"/>
              </a:rPr>
              <a:t>subtrees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are 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 and t</a:t>
            </a:r>
            <a:r>
              <a:rPr lang="en-US" sz="2400" baseline="-2500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returned by the split.</a:t>
            </a:r>
          </a:p>
          <a:p>
            <a:endParaRPr lang="en-US" sz="2400" dirty="0"/>
          </a:p>
          <a:p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77808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18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latin typeface="Century Gothic"/>
                <a:cs typeface="Century Gothic"/>
              </a:rPr>
              <a:t>Illustration</a:t>
            </a:r>
            <a:endParaRPr lang="en-US" dirty="0" smtClean="0">
              <a:latin typeface="Century Gothic"/>
              <a:cs typeface="Century Gothic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3" name="Picture 2" descr="splay6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57200" y="838200"/>
            <a:ext cx="81534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71018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FD45F3-18F9-0B48-92CD-B631B1745931}" type="slidenum">
              <a:rPr lang="en-US" sz="1500">
                <a:latin typeface="Arial" charset="0"/>
              </a:rPr>
              <a:pPr/>
              <a:t>19</a:t>
            </a:fld>
            <a:endParaRPr lang="en-US" sz="1500">
              <a:latin typeface="Arial" charset="0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Delete in Splay Trees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To do </a:t>
            </a:r>
            <a:r>
              <a:rPr lang="en-US" sz="2400" dirty="0" err="1">
                <a:latin typeface="Century Gothic"/>
                <a:cs typeface="Century Gothic"/>
              </a:rPr>
              <a:t>delete</a:t>
            </a:r>
            <a:r>
              <a:rPr lang="en-US" sz="2400" dirty="0" err="1" smtClean="0">
                <a:latin typeface="Century Gothic"/>
                <a:cs typeface="Century Gothic"/>
              </a:rPr>
              <a:t>(</a:t>
            </a:r>
            <a:r>
              <a:rPr lang="en-US" sz="2400" dirty="0" err="1">
                <a:latin typeface="Century Gothic"/>
                <a:cs typeface="Century Gothic"/>
              </a:rPr>
              <a:t>x</a:t>
            </a:r>
            <a:r>
              <a:rPr lang="en-US" sz="2400" dirty="0" err="1" smtClean="0">
                <a:latin typeface="Century Gothic"/>
                <a:cs typeface="Century Gothic"/>
              </a:rPr>
              <a:t>,</a:t>
            </a:r>
            <a:r>
              <a:rPr lang="en-US" sz="2400" dirty="0" err="1">
                <a:latin typeface="Century Gothic"/>
                <a:cs typeface="Century Gothic"/>
              </a:rPr>
              <a:t>t</a:t>
            </a:r>
            <a:r>
              <a:rPr lang="en-US" sz="2400" dirty="0">
                <a:latin typeface="Century Gothic"/>
                <a:cs typeface="Century Gothic"/>
              </a:rPr>
              <a:t>), perform </a:t>
            </a:r>
            <a:r>
              <a:rPr lang="en-US" sz="2400" dirty="0" err="1">
                <a:latin typeface="Century Gothic"/>
                <a:cs typeface="Century Gothic"/>
              </a:rPr>
              <a:t>access</a:t>
            </a:r>
            <a:r>
              <a:rPr lang="en-US" sz="2400" dirty="0" err="1" smtClean="0">
                <a:latin typeface="Century Gothic"/>
                <a:cs typeface="Century Gothic"/>
              </a:rPr>
              <a:t>(x,</a:t>
            </a:r>
            <a:r>
              <a:rPr lang="en-US" sz="2400" dirty="0" err="1">
                <a:latin typeface="Century Gothic"/>
                <a:cs typeface="Century Gothic"/>
              </a:rPr>
              <a:t>t</a:t>
            </a:r>
            <a:r>
              <a:rPr lang="en-US" sz="2400" dirty="0">
                <a:latin typeface="Century Gothic"/>
                <a:cs typeface="Century Gothic"/>
              </a:rPr>
              <a:t>), and then replace </a:t>
            </a:r>
            <a:r>
              <a:rPr lang="en-US" sz="2400" dirty="0" smtClean="0">
                <a:latin typeface="Century Gothic"/>
                <a:cs typeface="Century Gothic"/>
              </a:rPr>
              <a:t>t by </a:t>
            </a:r>
            <a:r>
              <a:rPr lang="en-US" sz="2400" dirty="0">
                <a:latin typeface="Century Gothic"/>
                <a:cs typeface="Century Gothic"/>
              </a:rPr>
              <a:t>the join of its left and right </a:t>
            </a:r>
            <a:r>
              <a:rPr lang="en-US" sz="2400" dirty="0" err="1">
                <a:latin typeface="Century Gothic"/>
                <a:cs typeface="Century Gothic"/>
              </a:rPr>
              <a:t>subtrees</a:t>
            </a:r>
            <a:r>
              <a:rPr lang="en-US" sz="2400" dirty="0">
                <a:latin typeface="Century Gothic"/>
                <a:cs typeface="Century Gothic"/>
              </a:rPr>
              <a:t>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03202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DB07A264-B33B-A54B-BD68-5926FC6E4EC2}" type="slidenum">
              <a:rPr lang="en-US" sz="1500">
                <a:latin typeface="Arial" charset="0"/>
              </a:rPr>
              <a:pPr/>
              <a:t>20</a:t>
            </a:fld>
            <a:endParaRPr lang="en-US" sz="1500">
              <a:latin typeface="Arial" charset="0"/>
            </a:endParaRPr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 the main theorem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algn="ctr">
              <a:lnSpc>
                <a:spcPct val="120000"/>
              </a:lnSpc>
              <a:buFont typeface="Monotype Sorts" charset="0"/>
              <a:buNone/>
            </a:pPr>
            <a:r>
              <a:rPr lang="en-US" dirty="0">
                <a:latin typeface="Tahoma" charset="0"/>
                <a:ea typeface="ＭＳ Ｐゴシック" charset="0"/>
              </a:rPr>
              <a:t>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Starting with an empty tree,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any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m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operations (find, insert, delete)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take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O(m log n)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time,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where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n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is the maximum # of items ever in the tree</a:t>
            </a:r>
          </a:p>
          <a:p>
            <a:pPr algn="ctr">
              <a:lnSpc>
                <a:spcPct val="130000"/>
              </a:lnSpc>
              <a:buFont typeface="Monotype Sorts" charset="0"/>
              <a:buNone/>
            </a:pPr>
            <a:endParaRPr lang="en-US" dirty="0">
              <a:latin typeface="Century Gothic"/>
              <a:ea typeface="ＭＳ Ｐゴシック" charset="0"/>
              <a:cs typeface="Century Gothic"/>
            </a:endParaRPr>
          </a:p>
          <a:p>
            <a:pPr>
              <a:lnSpc>
                <a:spcPct val="130000"/>
              </a:lnSpc>
              <a:buFont typeface="Monotype Sorts" charset="0"/>
              <a:buNone/>
            </a:pP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Lemma: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 Any sequence of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m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operations requires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at most 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4 m log n + 2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splay steps.</a:t>
            </a:r>
          </a:p>
          <a:p>
            <a:pPr>
              <a:lnSpc>
                <a:spcPct val="130000"/>
              </a:lnSpc>
              <a:buFont typeface="Monotype Sorts" charset="0"/>
              <a:buNone/>
            </a:pPr>
            <a:endParaRPr lang="en-US" dirty="0">
              <a:latin typeface="Century Gothic"/>
              <a:ea typeface="ＭＳ Ｐゴシック" charset="0"/>
              <a:cs typeface="Century Gothic"/>
            </a:endParaRPr>
          </a:p>
          <a:p>
            <a:pPr>
              <a:lnSpc>
                <a:spcPct val="130000"/>
              </a:lnSpc>
              <a:buFont typeface="Monotype Sorts" charset="0"/>
              <a:buNone/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(The theorem follows immediately from the lemma.)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BA87114-3328-5848-A840-94F98801B7C6}" type="slidenum">
              <a:rPr lang="en-US" sz="1500">
                <a:latin typeface="Arial" charset="0"/>
              </a:rPr>
              <a:pPr/>
              <a:t>21</a:t>
            </a:fld>
            <a:endParaRPr lang="en-US" sz="1500">
              <a:latin typeface="Arial" charset="0"/>
            </a:endParaRPr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Main Theorem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algn="ctr">
              <a:lnSpc>
                <a:spcPct val="120000"/>
              </a:lnSpc>
              <a:buFont typeface="Monotype Sorts" charset="0"/>
              <a:buNone/>
            </a:pPr>
            <a:r>
              <a:rPr lang="en-US" dirty="0">
                <a:latin typeface="Tahoma" charset="0"/>
                <a:ea typeface="ＭＳ Ｐゴシック" charset="0"/>
              </a:rPr>
              <a:t>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Starting with an empty tree,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any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m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operations (find, insert, delete)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take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O(m log n)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time,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where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n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is the maximum # of items ever in the tree</a:t>
            </a:r>
          </a:p>
          <a:p>
            <a:pPr algn="ctr">
              <a:lnSpc>
                <a:spcPct val="130000"/>
              </a:lnSpc>
              <a:buFont typeface="Monotype Sorts" charset="0"/>
              <a:buNone/>
            </a:pPr>
            <a:endParaRPr lang="en-US" dirty="0">
              <a:latin typeface="Century Gothic"/>
              <a:ea typeface="ＭＳ Ｐゴシック" charset="0"/>
              <a:cs typeface="Century Gothic"/>
            </a:endParaRP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Proof:  </a:t>
            </a:r>
            <a:r>
              <a:rPr lang="ja-JP" altLang="en-US" dirty="0">
                <a:latin typeface="Century Gothic"/>
                <a:ea typeface="ＭＳ Ｐゴシック" charset="0"/>
                <a:cs typeface="Century Gothic"/>
              </a:rPr>
              <a:t>“</a:t>
            </a: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credit accounting</a:t>
            </a:r>
            <a:r>
              <a:rPr lang="ja-JP" altLang="en-US" dirty="0">
                <a:latin typeface="Century Gothic"/>
                <a:ea typeface="ＭＳ Ｐゴシック" charset="0"/>
                <a:cs typeface="Century Gothic"/>
              </a:rPr>
              <a:t>”</a:t>
            </a:r>
            <a:endParaRPr lang="en-US" altLang="ja-JP" dirty="0">
              <a:latin typeface="Century Gothic"/>
              <a:ea typeface="ＭＳ Ｐゴシック" charset="0"/>
              <a:cs typeface="Century Gothic"/>
            </a:endParaRPr>
          </a:p>
          <a:p>
            <a:pPr lvl="1"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just count the cost of splaying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each operation gets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3 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lg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 n + 1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coins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one coin pays for one splay step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each node holds floor(</a:t>
            </a:r>
            <a:r>
              <a:rPr lang="en-US" dirty="0" err="1">
                <a:latin typeface="Century Gothic"/>
                <a:ea typeface="ＭＳ Ｐゴシック" charset="0"/>
                <a:cs typeface="Century Gothic"/>
              </a:rPr>
              <a:t>lg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(size of </a:t>
            </a:r>
            <a:r>
              <a:rPr lang="en-US" dirty="0" err="1">
                <a:latin typeface="Century Gothic"/>
                <a:ea typeface="ＭＳ Ｐゴシック" charset="0"/>
                <a:cs typeface="Century Gothic"/>
              </a:rPr>
              <a:t>subtree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)) coins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85408E3-126F-F147-8D33-647C437F4713}" type="slidenum">
              <a:rPr lang="en-US" sz="1500">
                <a:latin typeface="Arial" charset="0"/>
              </a:rPr>
              <a:pPr/>
              <a:t>22</a:t>
            </a:fld>
            <a:endParaRPr lang="en-US" sz="1500">
              <a:latin typeface="Arial" charset="0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proving the lemma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685800"/>
            <a:ext cx="9288462" cy="6399213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>
                <a:latin typeface="Tahoma" charset="0"/>
                <a:ea typeface="ＭＳ Ｐゴシック" charset="0"/>
              </a:rPr>
              <a:t>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Each operation gets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4 log n + 2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coins (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3 log n + 1</a:t>
            </a:r>
            <a:r>
              <a:rPr lang="en-US" dirty="0">
                <a:solidFill>
                  <a:schemeClr val="tx1"/>
                </a:solidFill>
                <a:latin typeface="Century Gothic"/>
                <a:ea typeface="ＭＳ Ｐゴシック" charset="0"/>
                <a:cs typeface="Century Gothic"/>
              </a:rPr>
              <a:t>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is enough for all but </a:t>
            </a:r>
            <a:r>
              <a:rPr lang="en-US" i="1" dirty="0">
                <a:latin typeface="Century Gothic"/>
                <a:ea typeface="ＭＳ Ｐゴシック" charset="0"/>
                <a:cs typeface="Century Gothic"/>
              </a:rPr>
              <a:t>insert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One splay step costs one coin, from somewhere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Some of the leftover coins are left </a:t>
            </a:r>
            <a:r>
              <a:rPr lang="ja-JP" altLang="en-US" dirty="0">
                <a:latin typeface="Century Gothic"/>
                <a:ea typeface="ＭＳ Ｐゴシック" charset="0"/>
                <a:cs typeface="Century Gothic"/>
              </a:rPr>
              <a:t>“</a:t>
            </a: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on the tree</a:t>
            </a:r>
            <a:r>
              <a:rPr lang="ja-JP" altLang="en-US" dirty="0">
                <a:latin typeface="Century Gothic"/>
                <a:ea typeface="ＭＳ Ｐゴシック" charset="0"/>
                <a:cs typeface="Century Gothic"/>
              </a:rPr>
              <a:t>”</a:t>
            </a: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 </a:t>
            </a:r>
            <a:br>
              <a:rPr lang="en-US" altLang="ja-JP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to pay for later operations</a:t>
            </a:r>
          </a:p>
          <a:p>
            <a:pPr>
              <a:lnSpc>
                <a:spcPct val="130000"/>
              </a:lnSpc>
            </a:pPr>
            <a:endParaRPr lang="en-US" dirty="0">
              <a:latin typeface="Century Gothic"/>
              <a:ea typeface="ＭＳ Ｐゴシック" charset="0"/>
              <a:cs typeface="Century Gothic"/>
            </a:endParaRPr>
          </a:p>
          <a:p>
            <a:pPr algn="ctr">
              <a:lnSpc>
                <a:spcPct val="130000"/>
              </a:lnSpc>
              <a:buFont typeface="Monotype Sorts" charset="0"/>
              <a:buNone/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</a:t>
            </a:r>
            <a:r>
              <a:rPr lang="en-US" u="sng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Credit invariant: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 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Every tree node holds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log(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subtree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 size)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coins 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(rounded down to an integer)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3B693DD-7CA6-1145-9D24-77C71D99F7F3}" type="slidenum">
              <a:rPr lang="en-US" sz="1500">
                <a:latin typeface="Arial" charset="0"/>
              </a:rPr>
              <a:pPr/>
              <a:t>23</a:t>
            </a:fld>
            <a:endParaRPr lang="en-US" sz="1500">
              <a:latin typeface="Arial" charset="0"/>
            </a:endParaRPr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+mj-cs"/>
              </a:rPr>
              <a:t>Splay trees: </a:t>
            </a:r>
            <a:r>
              <a:rPr lang="en-US" sz="2800" smtClean="0">
                <a:cs typeface="+mj-cs"/>
              </a:rPr>
              <a:t>maintaining the credit invariant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8" y="2514600"/>
            <a:ext cx="9288462" cy="4341813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>
                <a:latin typeface="Tahoma" charset="0"/>
                <a:ea typeface="ＭＳ Ｐゴシック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(x) =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log(</a:t>
            </a:r>
            <a:r>
              <a:rPr lang="en-US" dirty="0" err="1">
                <a:latin typeface="Century Gothic"/>
                <a:ea typeface="ＭＳ Ｐゴシック" charset="0"/>
                <a:cs typeface="Century Gothic"/>
              </a:rPr>
              <a:t>subtree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size) before step;   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ja-JP" alt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’</a:t>
            </a: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 after step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</a:t>
            </a:r>
            <a:r>
              <a:rPr lang="en-US" dirty="0" err="1">
                <a:latin typeface="Century Gothic"/>
                <a:ea typeface="ＭＳ Ｐゴシック" charset="0"/>
                <a:cs typeface="Century Gothic"/>
              </a:rPr>
              <a:t>zig-zag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step costs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1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coin (to do the step) plus </a:t>
            </a:r>
            <a:br>
              <a:rPr lang="en-US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ja-JP" alt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’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(x) –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(x) +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ja-JP" alt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’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(p) –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(p) +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ja-JP" alt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’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(g) –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(g)</a:t>
            </a:r>
            <a:b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</a:b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(to maintain the invariant)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this is always &lt;=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 3(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ja-JP" alt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’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(x) – </a:t>
            </a:r>
            <a:r>
              <a:rPr lang="en-US" altLang="ja-JP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altLang="ja-JP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(x)) </a:t>
            </a:r>
            <a:r>
              <a:rPr lang="en-US" altLang="ja-JP" dirty="0">
                <a:latin typeface="Century Gothic"/>
                <a:ea typeface="ＭＳ Ｐゴシック" charset="0"/>
                <a:cs typeface="Century Gothic"/>
              </a:rPr>
              <a:t> </a:t>
            </a:r>
            <a:r>
              <a:rPr lang="en-US" altLang="ja-JP" sz="2400" dirty="0">
                <a:latin typeface="Century Gothic"/>
                <a:ea typeface="ＭＳ Ｐゴシック" charset="0"/>
                <a:cs typeface="Century Gothic"/>
              </a:rPr>
              <a:t>[complex argument]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similarly for </a:t>
            </a:r>
            <a:r>
              <a:rPr lang="en-US" dirty="0" err="1">
                <a:latin typeface="Century Gothic"/>
                <a:ea typeface="ＭＳ Ｐゴシック" charset="0"/>
                <a:cs typeface="Century Gothic"/>
              </a:rPr>
              <a:t>zig-</a:t>
            </a:r>
            <a:r>
              <a:rPr lang="en-US" dirty="0" err="1" smtClean="0">
                <a:latin typeface="Century Gothic"/>
                <a:ea typeface="ＭＳ Ｐゴシック" charset="0"/>
                <a:cs typeface="Century Gothic"/>
              </a:rPr>
              <a:t>zig</a:t>
            </a:r>
            <a:r>
              <a:rPr lang="en-US" dirty="0" smtClean="0">
                <a:latin typeface="Century Gothic"/>
                <a:ea typeface="ＭＳ Ｐゴシック" charset="0"/>
                <a:cs typeface="Century Gothic"/>
              </a:rPr>
              <a:t>;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1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more for last half step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 total cost of splay is &lt;= 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3(</a:t>
            </a:r>
            <a:r>
              <a:rPr lang="en-US" dirty="0" err="1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(root))+1 = 3 log n + 1</a:t>
            </a:r>
          </a:p>
        </p:txBody>
      </p:sp>
      <p:grpSp>
        <p:nvGrpSpPr>
          <p:cNvPr id="65540" name="Group 4"/>
          <p:cNvGrpSpPr>
            <a:grpSpLocks/>
          </p:cNvGrpSpPr>
          <p:nvPr/>
        </p:nvGrpSpPr>
        <p:grpSpPr bwMode="auto">
          <a:xfrm>
            <a:off x="2286000" y="685800"/>
            <a:ext cx="4419600" cy="1893888"/>
            <a:chOff x="2208" y="432"/>
            <a:chExt cx="3696" cy="1584"/>
          </a:xfrm>
        </p:grpSpPr>
        <p:sp>
          <p:nvSpPr>
            <p:cNvPr id="164869" name="Oval 5"/>
            <p:cNvSpPr>
              <a:spLocks noChangeArrowheads="1"/>
            </p:cNvSpPr>
            <p:nvPr/>
          </p:nvSpPr>
          <p:spPr bwMode="auto">
            <a:xfrm>
              <a:off x="2880" y="115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X</a:t>
              </a:r>
            </a:p>
          </p:txBody>
        </p:sp>
        <p:sp>
          <p:nvSpPr>
            <p:cNvPr id="164870" name="Oval 6"/>
            <p:cNvSpPr>
              <a:spLocks noChangeArrowheads="1"/>
            </p:cNvSpPr>
            <p:nvPr/>
          </p:nvSpPr>
          <p:spPr bwMode="auto">
            <a:xfrm>
              <a:off x="2880" y="4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G</a:t>
              </a:r>
            </a:p>
          </p:txBody>
        </p:sp>
        <p:sp>
          <p:nvSpPr>
            <p:cNvPr id="164871" name="Oval 7"/>
            <p:cNvSpPr>
              <a:spLocks noChangeArrowheads="1"/>
            </p:cNvSpPr>
            <p:nvPr/>
          </p:nvSpPr>
          <p:spPr bwMode="auto">
            <a:xfrm>
              <a:off x="2544" y="7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P</a:t>
              </a:r>
            </a:p>
          </p:txBody>
        </p:sp>
        <p:cxnSp>
          <p:nvCxnSpPr>
            <p:cNvPr id="164872" name="AutoShape 8"/>
            <p:cNvCxnSpPr>
              <a:cxnSpLocks noChangeShapeType="1"/>
              <a:stCxn id="164871" idx="5"/>
              <a:endCxn id="164869" idx="1"/>
            </p:cNvCxnSpPr>
            <p:nvPr/>
          </p:nvCxnSpPr>
          <p:spPr bwMode="auto">
            <a:xfrm>
              <a:off x="2789" y="1014"/>
              <a:ext cx="133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73" name="AutoShape 9"/>
            <p:cNvCxnSpPr>
              <a:cxnSpLocks noChangeShapeType="1"/>
              <a:stCxn id="164871" idx="7"/>
              <a:endCxn id="164870" idx="3"/>
            </p:cNvCxnSpPr>
            <p:nvPr/>
          </p:nvCxnSpPr>
          <p:spPr bwMode="auto">
            <a:xfrm flipV="1">
              <a:off x="2789" y="678"/>
              <a:ext cx="133" cy="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74" name="AutoShape 10"/>
            <p:cNvSpPr>
              <a:spLocks noChangeArrowheads="1"/>
            </p:cNvSpPr>
            <p:nvPr/>
          </p:nvSpPr>
          <p:spPr bwMode="auto">
            <a:xfrm>
              <a:off x="2208" y="1249"/>
              <a:ext cx="384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A</a:t>
              </a:r>
            </a:p>
          </p:txBody>
        </p:sp>
        <p:cxnSp>
          <p:nvCxnSpPr>
            <p:cNvPr id="164875" name="AutoShape 11"/>
            <p:cNvCxnSpPr>
              <a:cxnSpLocks noChangeShapeType="1"/>
              <a:stCxn id="164874" idx="0"/>
              <a:endCxn id="164871" idx="3"/>
            </p:cNvCxnSpPr>
            <p:nvPr/>
          </p:nvCxnSpPr>
          <p:spPr bwMode="auto">
            <a:xfrm flipV="1">
              <a:off x="2401" y="1014"/>
              <a:ext cx="186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76" name="AutoShape 12"/>
            <p:cNvSpPr>
              <a:spLocks noChangeArrowheads="1"/>
            </p:cNvSpPr>
            <p:nvPr/>
          </p:nvSpPr>
          <p:spPr bwMode="auto">
            <a:xfrm>
              <a:off x="3120" y="158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C</a:t>
              </a:r>
            </a:p>
          </p:txBody>
        </p:sp>
        <p:sp>
          <p:nvSpPr>
            <p:cNvPr id="164877" name="AutoShape 13"/>
            <p:cNvSpPr>
              <a:spLocks noChangeArrowheads="1"/>
            </p:cNvSpPr>
            <p:nvPr/>
          </p:nvSpPr>
          <p:spPr bwMode="auto">
            <a:xfrm>
              <a:off x="3263" y="864"/>
              <a:ext cx="385" cy="43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D</a:t>
              </a:r>
            </a:p>
          </p:txBody>
        </p:sp>
        <p:sp>
          <p:nvSpPr>
            <p:cNvPr id="164878" name="AutoShape 14"/>
            <p:cNvSpPr>
              <a:spLocks noChangeArrowheads="1"/>
            </p:cNvSpPr>
            <p:nvPr/>
          </p:nvSpPr>
          <p:spPr bwMode="auto">
            <a:xfrm>
              <a:off x="2592" y="158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B</a:t>
              </a:r>
            </a:p>
          </p:txBody>
        </p:sp>
        <p:cxnSp>
          <p:nvCxnSpPr>
            <p:cNvPr id="164879" name="AutoShape 15"/>
            <p:cNvCxnSpPr>
              <a:cxnSpLocks noChangeShapeType="1"/>
              <a:stCxn id="164870" idx="5"/>
              <a:endCxn id="164877" idx="0"/>
            </p:cNvCxnSpPr>
            <p:nvPr/>
          </p:nvCxnSpPr>
          <p:spPr bwMode="auto">
            <a:xfrm>
              <a:off x="3125" y="678"/>
              <a:ext cx="331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80" name="AutoShape 16"/>
            <p:cNvCxnSpPr>
              <a:cxnSpLocks noChangeShapeType="1"/>
              <a:stCxn id="164869" idx="3"/>
              <a:endCxn id="164878" idx="0"/>
            </p:cNvCxnSpPr>
            <p:nvPr/>
          </p:nvCxnSpPr>
          <p:spPr bwMode="auto">
            <a:xfrm flipH="1">
              <a:off x="2784" y="1399"/>
              <a:ext cx="138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81" name="AutoShape 17"/>
            <p:cNvCxnSpPr>
              <a:cxnSpLocks noChangeShapeType="1"/>
              <a:stCxn id="164869" idx="5"/>
              <a:endCxn id="164876" idx="0"/>
            </p:cNvCxnSpPr>
            <p:nvPr/>
          </p:nvCxnSpPr>
          <p:spPr bwMode="auto">
            <a:xfrm>
              <a:off x="3125" y="1399"/>
              <a:ext cx="187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82" name="Oval 18"/>
            <p:cNvSpPr>
              <a:spLocks noChangeArrowheads="1"/>
            </p:cNvSpPr>
            <p:nvPr/>
          </p:nvSpPr>
          <p:spPr bwMode="auto">
            <a:xfrm>
              <a:off x="4944" y="43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X</a:t>
              </a:r>
            </a:p>
          </p:txBody>
        </p:sp>
        <p:sp>
          <p:nvSpPr>
            <p:cNvPr id="164883" name="Oval 19"/>
            <p:cNvSpPr>
              <a:spLocks noChangeArrowheads="1"/>
            </p:cNvSpPr>
            <p:nvPr/>
          </p:nvSpPr>
          <p:spPr bwMode="auto">
            <a:xfrm>
              <a:off x="5328" y="81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G</a:t>
              </a:r>
            </a:p>
          </p:txBody>
        </p:sp>
        <p:sp>
          <p:nvSpPr>
            <p:cNvPr id="164884" name="Oval 20"/>
            <p:cNvSpPr>
              <a:spLocks noChangeArrowheads="1"/>
            </p:cNvSpPr>
            <p:nvPr/>
          </p:nvSpPr>
          <p:spPr bwMode="auto">
            <a:xfrm>
              <a:off x="4511" y="81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P</a:t>
              </a:r>
            </a:p>
          </p:txBody>
        </p:sp>
        <p:cxnSp>
          <p:nvCxnSpPr>
            <p:cNvPr id="164885" name="AutoShape 21"/>
            <p:cNvCxnSpPr>
              <a:cxnSpLocks noChangeShapeType="1"/>
              <a:stCxn id="164884" idx="7"/>
              <a:endCxn id="164882" idx="3"/>
            </p:cNvCxnSpPr>
            <p:nvPr/>
          </p:nvCxnSpPr>
          <p:spPr bwMode="auto">
            <a:xfrm flipV="1">
              <a:off x="4758" y="678"/>
              <a:ext cx="228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86" name="AutoShape 22"/>
            <p:cNvCxnSpPr>
              <a:cxnSpLocks noChangeShapeType="1"/>
              <a:stCxn id="164882" idx="5"/>
              <a:endCxn id="164883" idx="1"/>
            </p:cNvCxnSpPr>
            <p:nvPr/>
          </p:nvCxnSpPr>
          <p:spPr bwMode="auto">
            <a:xfrm>
              <a:off x="5190" y="678"/>
              <a:ext cx="182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87" name="AutoShape 23"/>
            <p:cNvSpPr>
              <a:spLocks noChangeArrowheads="1"/>
            </p:cNvSpPr>
            <p:nvPr/>
          </p:nvSpPr>
          <p:spPr bwMode="auto">
            <a:xfrm>
              <a:off x="4225" y="1344"/>
              <a:ext cx="385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A</a:t>
              </a:r>
            </a:p>
          </p:txBody>
        </p:sp>
        <p:cxnSp>
          <p:nvCxnSpPr>
            <p:cNvPr id="164888" name="AutoShape 24"/>
            <p:cNvCxnSpPr>
              <a:cxnSpLocks noChangeShapeType="1"/>
              <a:stCxn id="164887" idx="0"/>
              <a:endCxn id="164884" idx="3"/>
            </p:cNvCxnSpPr>
            <p:nvPr/>
          </p:nvCxnSpPr>
          <p:spPr bwMode="auto">
            <a:xfrm flipV="1">
              <a:off x="4416" y="1061"/>
              <a:ext cx="13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89" name="AutoShape 25"/>
            <p:cNvSpPr>
              <a:spLocks noChangeArrowheads="1"/>
            </p:cNvSpPr>
            <p:nvPr/>
          </p:nvSpPr>
          <p:spPr bwMode="auto">
            <a:xfrm>
              <a:off x="5088" y="1344"/>
              <a:ext cx="385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C</a:t>
              </a:r>
            </a:p>
          </p:txBody>
        </p:sp>
        <p:sp>
          <p:nvSpPr>
            <p:cNvPr id="164890" name="AutoShape 26"/>
            <p:cNvSpPr>
              <a:spLocks noChangeArrowheads="1"/>
            </p:cNvSpPr>
            <p:nvPr/>
          </p:nvSpPr>
          <p:spPr bwMode="auto">
            <a:xfrm>
              <a:off x="5520" y="134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D</a:t>
              </a:r>
            </a:p>
          </p:txBody>
        </p:sp>
        <p:sp>
          <p:nvSpPr>
            <p:cNvPr id="164891" name="AutoShape 27"/>
            <p:cNvSpPr>
              <a:spLocks noChangeArrowheads="1"/>
            </p:cNvSpPr>
            <p:nvPr/>
          </p:nvSpPr>
          <p:spPr bwMode="auto">
            <a:xfrm>
              <a:off x="4656" y="1344"/>
              <a:ext cx="384" cy="43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cs typeface="+mn-cs"/>
                </a:rPr>
                <a:t>B</a:t>
              </a:r>
            </a:p>
          </p:txBody>
        </p:sp>
        <p:cxnSp>
          <p:nvCxnSpPr>
            <p:cNvPr id="164892" name="AutoShape 28"/>
            <p:cNvCxnSpPr>
              <a:cxnSpLocks noChangeShapeType="1"/>
              <a:stCxn id="164883" idx="5"/>
              <a:endCxn id="164890" idx="0"/>
            </p:cNvCxnSpPr>
            <p:nvPr/>
          </p:nvCxnSpPr>
          <p:spPr bwMode="auto">
            <a:xfrm>
              <a:off x="5573" y="1061"/>
              <a:ext cx="13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93" name="AutoShape 29"/>
            <p:cNvCxnSpPr>
              <a:cxnSpLocks noChangeShapeType="1"/>
              <a:stCxn id="164884" idx="5"/>
              <a:endCxn id="164891" idx="0"/>
            </p:cNvCxnSpPr>
            <p:nvPr/>
          </p:nvCxnSpPr>
          <p:spPr bwMode="auto">
            <a:xfrm>
              <a:off x="4758" y="1061"/>
              <a:ext cx="9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4894" name="AutoShape 30"/>
            <p:cNvCxnSpPr>
              <a:cxnSpLocks noChangeShapeType="1"/>
              <a:stCxn id="164883" idx="3"/>
              <a:endCxn id="164889" idx="0"/>
            </p:cNvCxnSpPr>
            <p:nvPr/>
          </p:nvCxnSpPr>
          <p:spPr bwMode="auto">
            <a:xfrm flipH="1">
              <a:off x="5280" y="1061"/>
              <a:ext cx="9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4895" name="AutoShape 31"/>
            <p:cNvSpPr>
              <a:spLocks noChangeArrowheads="1"/>
            </p:cNvSpPr>
            <p:nvPr/>
          </p:nvSpPr>
          <p:spPr bwMode="auto">
            <a:xfrm>
              <a:off x="3792" y="625"/>
              <a:ext cx="481" cy="191"/>
            </a:xfrm>
            <a:prstGeom prst="rightArrow">
              <a:avLst>
                <a:gd name="adj1" fmla="val 50000"/>
                <a:gd name="adj2" fmla="val 6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3BA392E-84BC-F843-B7A6-2707543005CF}" type="slidenum">
              <a:rPr lang="en-US" sz="1500">
                <a:latin typeface="Arial" charset="0"/>
              </a:rPr>
              <a:pPr/>
              <a:t>24</a:t>
            </a:fld>
            <a:endParaRPr lang="en-US" sz="1500">
              <a:latin typeface="Arial" charset="0"/>
            </a:endParaRPr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Splay trees: end of the main proof</a:t>
            </a:r>
            <a:endParaRPr lang="en-US" sz="2800" dirty="0" smtClean="0">
              <a:latin typeface="Century Gothic"/>
              <a:cs typeface="Century Gothic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8" y="1066800"/>
            <a:ext cx="9288462" cy="5789613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Tahoma" charset="0"/>
                <a:ea typeface="ＭＳ Ｐゴシック" charset="0"/>
              </a:rPr>
              <a:t> 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maintaining invariant during splay costs &lt;=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3 log n + 1 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coins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maintaining invariant during insert may cost an extra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log n + 1 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coins (because </a:t>
            </a:r>
            <a:r>
              <a:rPr lang="en-US" sz="2400" dirty="0" err="1">
                <a:latin typeface="Century Gothic"/>
                <a:ea typeface="ＭＳ Ｐゴシック" charset="0"/>
                <a:cs typeface="Century Gothic"/>
              </a:rPr>
              <a:t>lss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goes up)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maintaining credit invariant never costs more than </a:t>
            </a:r>
            <a:br>
              <a:rPr lang="en-US" sz="2400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4 log n + 2 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coins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Lemma: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 Any sequence of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m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operations requires</a:t>
            </a:r>
            <a:br>
              <a:rPr lang="en-US" sz="2400" dirty="0">
                <a:latin typeface="Century Gothic"/>
                <a:ea typeface="ＭＳ Ｐゴシック" charset="0"/>
                <a:cs typeface="Century Gothic"/>
              </a:rPr>
            </a:b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at most 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4 m log n + 2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splay steps.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Theorem: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 Starting with an empty tree, any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m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operations 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(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find, insert, delete) take </a:t>
            </a:r>
            <a:r>
              <a:rPr lang="en-US" sz="2400" dirty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O(m log n)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 time</a:t>
            </a:r>
          </a:p>
          <a:p>
            <a:pPr>
              <a:lnSpc>
                <a:spcPct val="130000"/>
              </a:lnSpc>
            </a:pP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 autoUpdateAnimBg="0"/>
    </p:bldLst>
  </p:timing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4058</TotalTime>
  <Words>1745</Words>
  <Application>Microsoft Macintosh PowerPoint</Application>
  <PresentationFormat>Custom</PresentationFormat>
  <Paragraphs>208</Paragraphs>
  <Slides>25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Dads Tie</vt:lpstr>
      <vt:lpstr>Course Outline</vt:lpstr>
      <vt:lpstr>Splay trees</vt:lpstr>
      <vt:lpstr>Splay trees: Intuition</vt:lpstr>
      <vt:lpstr>Splay trees: Intuition</vt:lpstr>
      <vt:lpstr>Splay trees: Intuition</vt:lpstr>
      <vt:lpstr>Splay trees: Advantages</vt:lpstr>
      <vt:lpstr>Splaying at a Node</vt:lpstr>
      <vt:lpstr>Splaying at a Node</vt:lpstr>
      <vt:lpstr>Splaying at a Node</vt:lpstr>
      <vt:lpstr>Splay trees</vt:lpstr>
      <vt:lpstr>Splay Tree Properties</vt:lpstr>
      <vt:lpstr>Splaying at a node</vt:lpstr>
      <vt:lpstr>Splaying at a node</vt:lpstr>
      <vt:lpstr>Splay Tree Operations</vt:lpstr>
      <vt:lpstr>Splay Tree: Implementing the Operations</vt:lpstr>
      <vt:lpstr>Illustration:  Access 80</vt:lpstr>
      <vt:lpstr>Insert and Delete in Splay Trees</vt:lpstr>
      <vt:lpstr>Insert in Splay Trees</vt:lpstr>
      <vt:lpstr>Illustration</vt:lpstr>
      <vt:lpstr>Delete in Splay Trees</vt:lpstr>
      <vt:lpstr>Splay trees:  the main theorem</vt:lpstr>
      <vt:lpstr>Splay trees: Main Theorem</vt:lpstr>
      <vt:lpstr>Splay trees: proving the lemma</vt:lpstr>
      <vt:lpstr>Splay trees: maintaining the credit invariant</vt:lpstr>
      <vt:lpstr>Splay trees: end of the main proof</vt:lpstr>
    </vt:vector>
  </TitlesOfParts>
  <Company>U C Santa Barbara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130 A: Data Structures and Algorithms</dc:title>
  <dc:creator>Jianwen Su</dc:creator>
  <cp:lastModifiedBy>Subhash Suri</cp:lastModifiedBy>
  <cp:revision>201</cp:revision>
  <cp:lastPrinted>2014-11-10T17:10:39Z</cp:lastPrinted>
  <dcterms:created xsi:type="dcterms:W3CDTF">2014-11-11T17:37:53Z</dcterms:created>
  <dcterms:modified xsi:type="dcterms:W3CDTF">2014-11-11T17:48:41Z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70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su@cs.ucsb.edu</vt:lpwstr>
  </property>
  <property fmtid="{D5CDD505-2E9C-101B-9397-08002B2CF9AE}" pid="8" name="HomePage">
    <vt:lpwstr>http://www.cs.ucsb.edu/~su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C:\My Documents\tryhtml</vt:lpwstr>
  </property>
</Properties>
</file>